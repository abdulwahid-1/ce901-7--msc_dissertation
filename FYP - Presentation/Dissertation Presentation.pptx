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40" r:id="rId1"/>
  </p:sldMasterIdLst>
  <p:sldIdLst>
    <p:sldId id="256" r:id="rId2"/>
    <p:sldId id="266" r:id="rId3"/>
    <p:sldId id="257" r:id="rId4"/>
    <p:sldId id="258" r:id="rId5"/>
    <p:sldId id="267" r:id="rId6"/>
    <p:sldId id="259" r:id="rId7"/>
    <p:sldId id="260" r:id="rId8"/>
    <p:sldId id="261" r:id="rId9"/>
    <p:sldId id="262" r:id="rId10"/>
    <p:sldId id="263" r:id="rId11"/>
    <p:sldId id="265" r:id="rId12"/>
    <p:sldId id="264" r:id="rId13"/>
    <p:sldId id="268" r:id="rId14"/>
    <p:sldId id="271" r:id="rId15"/>
    <p:sldId id="269" r:id="rId16"/>
    <p:sldId id="272" r:id="rId17"/>
    <p:sldId id="273" r:id="rId18"/>
    <p:sldId id="274" r:id="rId19"/>
    <p:sldId id="275" r:id="rId20"/>
    <p:sldId id="276" r:id="rId21"/>
    <p:sldId id="270" r:id="rId22"/>
    <p:sldId id="277" r:id="rId23"/>
    <p:sldId id="278" r:id="rId24"/>
    <p:sldId id="279" r:id="rId25"/>
    <p:sldId id="280" r:id="rId26"/>
    <p:sldId id="281" r:id="rId27"/>
    <p:sldId id="282" r:id="rId28"/>
    <p:sldId id="283" r:id="rId29"/>
    <p:sldId id="284" r:id="rId30"/>
    <p:sldId id="285" r:id="rId31"/>
    <p:sldId id="286" r:id="rId32"/>
    <p:sldId id="288" r:id="rId33"/>
    <p:sldId id="287"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3" r:id="rId48"/>
    <p:sldId id="302"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7" r:id="rId62"/>
    <p:sldId id="318" r:id="rId63"/>
    <p:sldId id="316" r:id="rId64"/>
    <p:sldId id="319" r:id="rId65"/>
    <p:sldId id="320" r:id="rId66"/>
    <p:sldId id="321" r:id="rId67"/>
    <p:sldId id="322" r:id="rId68"/>
    <p:sldId id="323" r:id="rId69"/>
    <p:sldId id="324" r:id="rId7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6" autoAdjust="0"/>
    <p:restoredTop sz="94660"/>
  </p:normalViewPr>
  <p:slideViewPr>
    <p:cSldViewPr snapToGrid="0">
      <p:cViewPr varScale="1">
        <p:scale>
          <a:sx n="85" d="100"/>
          <a:sy n="85" d="100"/>
        </p:scale>
        <p:origin x="425"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smtClean="0"/>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83284890-85D2-4D7B-8EF5-15A9C1DB8F42}" type="datetimeFigureOut">
              <a:rPr lang="en-US" dirty="0"/>
              <a:t>9/9/2023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4FAB73BC-B049-4115-A692-8D63A059BFB8}"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2F5661D-6934-4B32-B92C-470368BF1EC6}" type="datetimeFigureOut">
              <a:rPr lang="en-US" dirty="0"/>
              <a:t>9/9/2023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smtClean="0"/>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a:xfrm>
            <a:off x="8593667" y="6272784"/>
            <a:ext cx="2644309" cy="365125"/>
          </a:xfrm>
        </p:spPr>
        <p:txBody>
          <a:bodyPr/>
          <a:lstStyle/>
          <a:p>
            <a:fld id="{C6F822A4-8DA6-4447-9B1F-C5DB58435268}" type="datetimeFigureOut">
              <a:rPr lang="en-US" dirty="0"/>
              <a:t>9/9/2023</a:t>
            </a:fld>
            <a:endParaRPr lang="en-US" dirty="0"/>
          </a:p>
        </p:txBody>
      </p:sp>
      <p:sp>
        <p:nvSpPr>
          <p:cNvPr id="5" name="Footer Placeholder 4"/>
          <p:cNvSpPr>
            <a:spLocks noGrp="1"/>
          </p:cNvSpPr>
          <p:nvPr>
            <p:ph type="ftr" sz="quarter" idx="11"/>
          </p:nvPr>
        </p:nvSpPr>
        <p:spPr>
          <a:xfrm>
            <a:off x="2182708" y="6272784"/>
            <a:ext cx="6327648" cy="365125"/>
          </a:xfrm>
        </p:spPr>
        <p:txBody>
          <a:bodyPr/>
          <a:lstStyle/>
          <a:p>
            <a:endParaRPr lang="en-US" dirty="0"/>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4FAB73BC-B049-4115-A692-8D63A059BFB8}"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E548D31E-DCDA-41A7-9C67-C4B11B94D21D}" type="datetimeFigureOut">
              <a:rPr lang="en-US" dirty="0"/>
              <a:t>9/9/2023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9B3762C0-B258-48F1-ADE6-176B4174CCDD}" type="datetimeFigureOut">
              <a:rPr lang="en-US" dirty="0"/>
              <a:t>9/9/2023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677919A6-33EB-49BD-A62F-1FA56B9F9712}" type="datetimeFigureOut">
              <a:rPr lang="en-US" dirty="0"/>
              <a:t>9/9/2023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A4E7D1B-D673-4CF6-8672-009D42ABD2A0}" type="datetimeFigureOut">
              <a:rPr lang="en-US" dirty="0"/>
              <a:t>9/9/2023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smtClean="0"/>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DA16AA21-1863-4931-97CB-99D0A168701B}" type="datetimeFigureOut">
              <a:rPr lang="en-US" dirty="0"/>
              <a:t>9/9/2023</a:t>
            </a:fld>
            <a:endParaRPr lang="en-US" dirty="0"/>
          </a:p>
        </p:txBody>
      </p:sp>
      <p:sp>
        <p:nvSpPr>
          <p:cNvPr id="6" name="Footer Placeholder 5"/>
          <p:cNvSpPr>
            <a:spLocks noGrp="1"/>
          </p:cNvSpPr>
          <p:nvPr>
            <p:ph type="ftr" sz="quarter" idx="11"/>
          </p:nvPr>
        </p:nvSpPr>
        <p:spPr/>
        <p:txBody>
          <a:bodyPr/>
          <a:lstStyle/>
          <a:p>
            <a:endParaRPr lang="en-US" dirty="0"/>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3772C379-9A7C-4C87-A116-CBE9F58B04C5}" type="datetimeFigureOut">
              <a:rPr lang="en-US" dirty="0"/>
              <a:t>9/9/2023</a:t>
            </a:fld>
            <a:endParaRPr lang="en-US" dirty="0"/>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7157CC2-0FC8-4686-B024-99790E0F5162}" type="datetimeFigureOut">
              <a:rPr lang="en-US" dirty="0"/>
              <a:t>9/9/2023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F6764DA5-CD3D-4590-A511-FCD3BC7A793E}" type="datetimeFigureOut">
              <a:rPr lang="en-US" dirty="0"/>
              <a:t>9/9/2023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8664C608-40B1-4030-A28D-5B74BC98ADCE}" type="datetimeFigureOut">
              <a:rPr lang="en-US" dirty="0"/>
              <a:t>9/9/2023</a:t>
            </a:fld>
            <a:endParaRPr lang="en-US" dirty="0"/>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dirty="0"/>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4FAB73BC-B049-4115-A692-8D63A059BFB8}"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hf sldNum="0" hdr="0" ftr="0" dt="0"/>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22771" y="1290555"/>
            <a:ext cx="10372001" cy="3030307"/>
          </a:xfrm>
        </p:spPr>
        <p:txBody>
          <a:bodyPr/>
          <a:lstStyle/>
          <a:p>
            <a:r>
              <a:rPr lang="en-US" sz="7200" dirty="0"/>
              <a:t>Deep Learning </a:t>
            </a:r>
            <a:r>
              <a:rPr lang="en-US" sz="7200" dirty="0" smtClean="0"/>
              <a:t>for Arbitrary </a:t>
            </a:r>
            <a:r>
              <a:rPr lang="en-US" sz="7200" dirty="0"/>
              <a:t>Stock Forecasting</a:t>
            </a:r>
          </a:p>
        </p:txBody>
      </p:sp>
      <p:sp>
        <p:nvSpPr>
          <p:cNvPr id="3" name="Subtitle 2"/>
          <p:cNvSpPr>
            <a:spLocks noGrp="1"/>
          </p:cNvSpPr>
          <p:nvPr>
            <p:ph type="subTitle" idx="1"/>
          </p:nvPr>
        </p:nvSpPr>
        <p:spPr/>
        <p:txBody>
          <a:bodyPr/>
          <a:lstStyle/>
          <a:p>
            <a:r>
              <a:rPr lang="en-US" dirty="0" smtClean="0"/>
              <a:t>Presented by: Abdul Wahid</a:t>
            </a:r>
          </a:p>
          <a:p>
            <a:r>
              <a:rPr lang="en-US" dirty="0" err="1" smtClean="0"/>
              <a:t>Stundent</a:t>
            </a:r>
            <a:r>
              <a:rPr lang="en-US" dirty="0" smtClean="0"/>
              <a:t> ID: aw22694</a:t>
            </a:r>
            <a:endParaRPr lang="en-US" dirty="0"/>
          </a:p>
        </p:txBody>
      </p:sp>
    </p:spTree>
    <p:extLst>
      <p:ext uri="{BB962C8B-B14F-4D97-AF65-F5344CB8AC3E}">
        <p14:creationId xmlns:p14="http://schemas.microsoft.com/office/powerpoint/2010/main" val="37148957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Stock Market</a:t>
            </a:r>
            <a:endParaRPr lang="en-US" dirty="0"/>
          </a:p>
        </p:txBody>
      </p:sp>
    </p:spTree>
    <p:extLst>
      <p:ext uri="{BB962C8B-B14F-4D97-AF65-F5344CB8AC3E}">
        <p14:creationId xmlns:p14="http://schemas.microsoft.com/office/powerpoint/2010/main" val="8297240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Stock Market</a:t>
            </a:r>
            <a:endParaRPr lang="en-US" dirty="0"/>
          </a:p>
        </p:txBody>
      </p:sp>
      <p:sp>
        <p:nvSpPr>
          <p:cNvPr id="3" name="Content Placeholder 2"/>
          <p:cNvSpPr>
            <a:spLocks noGrp="1"/>
          </p:cNvSpPr>
          <p:nvPr>
            <p:ph idx="1"/>
          </p:nvPr>
        </p:nvSpPr>
        <p:spPr/>
        <p:txBody>
          <a:bodyPr/>
          <a:lstStyle/>
          <a:p>
            <a:pPr algn="just"/>
            <a:r>
              <a:rPr lang="en-US" dirty="0"/>
              <a:t>The stock market is a financial marketplace where individuals and institutions buy and sell ownership stokes publicly traded companies.</a:t>
            </a:r>
          </a:p>
          <a:p>
            <a:pPr algn="just"/>
            <a:r>
              <a:rPr lang="en-US" dirty="0"/>
              <a:t>Investors trade stocks in the stock market to potentially earn capital gains and dividends, with prices influenced by supply and demand dynamics and company performance.</a:t>
            </a:r>
          </a:p>
        </p:txBody>
      </p:sp>
    </p:spTree>
    <p:extLst>
      <p:ext uri="{BB962C8B-B14F-4D97-AF65-F5344CB8AC3E}">
        <p14:creationId xmlns:p14="http://schemas.microsoft.com/office/powerpoint/2010/main" val="20090410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Primary vs Secondary</a:t>
            </a:r>
            <a:endParaRPr lang="en-US" dirty="0"/>
          </a:p>
        </p:txBody>
      </p:sp>
      <p:sp>
        <p:nvSpPr>
          <p:cNvPr id="3" name="Content Placeholder 2"/>
          <p:cNvSpPr>
            <a:spLocks noGrp="1"/>
          </p:cNvSpPr>
          <p:nvPr>
            <p:ph idx="1"/>
          </p:nvPr>
        </p:nvSpPr>
        <p:spPr/>
        <p:txBody>
          <a:bodyPr>
            <a:normAutofit/>
          </a:bodyPr>
          <a:lstStyle/>
          <a:p>
            <a:pPr marL="0" indent="0" algn="just">
              <a:buNone/>
            </a:pPr>
            <a:r>
              <a:rPr lang="en-US" b="1" dirty="0" smtClean="0"/>
              <a:t>Primary </a:t>
            </a:r>
            <a:r>
              <a:rPr lang="en-US" b="1" dirty="0"/>
              <a:t>Market</a:t>
            </a:r>
            <a:r>
              <a:rPr lang="en-US" b="1" dirty="0" smtClean="0"/>
              <a:t>:</a:t>
            </a:r>
            <a:endParaRPr lang="en-US" b="1" dirty="0"/>
          </a:p>
          <a:p>
            <a:pPr algn="just"/>
            <a:r>
              <a:rPr lang="en-US" dirty="0" smtClean="0"/>
              <a:t>Initial </a:t>
            </a:r>
            <a:r>
              <a:rPr lang="en-US" dirty="0"/>
              <a:t>issuance of new shares by companies to raise capital for various purposes</a:t>
            </a:r>
            <a:r>
              <a:rPr lang="en-US" dirty="0" smtClean="0"/>
              <a:t>.</a:t>
            </a:r>
          </a:p>
          <a:p>
            <a:pPr algn="just"/>
            <a:r>
              <a:rPr lang="en-US" dirty="0" smtClean="0"/>
              <a:t>Newly </a:t>
            </a:r>
            <a:r>
              <a:rPr lang="en-US" dirty="0"/>
              <a:t>issued securities are offered to the public for the first time, </a:t>
            </a:r>
            <a:r>
              <a:rPr lang="en-US" dirty="0" smtClean="0"/>
              <a:t>allowing companies </a:t>
            </a:r>
            <a:r>
              <a:rPr lang="en-US" dirty="0"/>
              <a:t>to raise capital directly from investors.</a:t>
            </a:r>
          </a:p>
          <a:p>
            <a:pPr algn="just"/>
            <a:endParaRPr lang="en-US" dirty="0"/>
          </a:p>
          <a:p>
            <a:pPr marL="0" indent="0" algn="just">
              <a:buNone/>
            </a:pPr>
            <a:r>
              <a:rPr lang="en-US" b="1" dirty="0" smtClean="0"/>
              <a:t>Secondary </a:t>
            </a:r>
            <a:r>
              <a:rPr lang="en-US" b="1" dirty="0"/>
              <a:t>Market</a:t>
            </a:r>
            <a:r>
              <a:rPr lang="en-US" b="1" dirty="0" smtClean="0"/>
              <a:t>:</a:t>
            </a:r>
          </a:p>
          <a:p>
            <a:pPr algn="just"/>
            <a:r>
              <a:rPr lang="en-US" dirty="0" smtClean="0"/>
              <a:t>Trading of existing shares among investors, providing liquidity and facilitating buying and selling.</a:t>
            </a:r>
          </a:p>
          <a:p>
            <a:pPr algn="just"/>
            <a:r>
              <a:rPr lang="en-US" dirty="0" smtClean="0"/>
              <a:t>It facilitates </a:t>
            </a:r>
            <a:r>
              <a:rPr lang="en-US" dirty="0"/>
              <a:t>the trading of existing securities among investors, </a:t>
            </a:r>
            <a:r>
              <a:rPr lang="en-US" dirty="0" smtClean="0"/>
              <a:t>providing liquidity </a:t>
            </a:r>
            <a:r>
              <a:rPr lang="en-US" dirty="0"/>
              <a:t>and enabling price discovery based on supply and demand dynamics.</a:t>
            </a:r>
            <a:endParaRPr lang="en-US" dirty="0" smtClean="0"/>
          </a:p>
        </p:txBody>
      </p:sp>
    </p:spTree>
    <p:extLst>
      <p:ext uri="{BB962C8B-B14F-4D97-AF65-F5344CB8AC3E}">
        <p14:creationId xmlns:p14="http://schemas.microsoft.com/office/powerpoint/2010/main" val="5781579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041301" y="1225296"/>
            <a:ext cx="9406987" cy="3520440"/>
          </a:xfrm>
        </p:spPr>
        <p:txBody>
          <a:bodyPr/>
          <a:lstStyle/>
          <a:p>
            <a:r>
              <a:rPr lang="en-US" dirty="0" smtClean="0"/>
              <a:t>Time Series Forecasting</a:t>
            </a:r>
            <a:endParaRPr lang="en-US" dirty="0"/>
          </a:p>
        </p:txBody>
      </p:sp>
    </p:spTree>
    <p:extLst>
      <p:ext uri="{BB962C8B-B14F-4D97-AF65-F5344CB8AC3E}">
        <p14:creationId xmlns:p14="http://schemas.microsoft.com/office/powerpoint/2010/main" val="15015919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Time Series Forecasting</a:t>
            </a:r>
            <a:endParaRPr lang="en-US" dirty="0"/>
          </a:p>
        </p:txBody>
      </p:sp>
      <p:sp>
        <p:nvSpPr>
          <p:cNvPr id="3" name="Content Placeholder 2"/>
          <p:cNvSpPr>
            <a:spLocks noGrp="1"/>
          </p:cNvSpPr>
          <p:nvPr>
            <p:ph idx="1"/>
          </p:nvPr>
        </p:nvSpPr>
        <p:spPr/>
        <p:txBody>
          <a:bodyPr/>
          <a:lstStyle/>
          <a:p>
            <a:r>
              <a:rPr lang="en-US" dirty="0" smtClean="0"/>
              <a:t>Common method used for Stock Market prediction</a:t>
            </a:r>
          </a:p>
          <a:p>
            <a:r>
              <a:rPr lang="en-US" dirty="0"/>
              <a:t>Time series forecasting models can be divided into two main types:</a:t>
            </a:r>
          </a:p>
          <a:p>
            <a:pPr marL="0" indent="0">
              <a:buNone/>
            </a:pPr>
            <a:r>
              <a:rPr lang="en-US" dirty="0" smtClean="0"/>
              <a:t>	 </a:t>
            </a:r>
            <a:r>
              <a:rPr lang="en-US" dirty="0"/>
              <a:t>Liner Models</a:t>
            </a:r>
          </a:p>
          <a:p>
            <a:pPr marL="0" indent="0">
              <a:buNone/>
            </a:pPr>
            <a:r>
              <a:rPr lang="en-US" dirty="0"/>
              <a:t>	</a:t>
            </a:r>
            <a:r>
              <a:rPr lang="en-US" dirty="0" smtClean="0"/>
              <a:t> </a:t>
            </a:r>
            <a:r>
              <a:rPr lang="en-US" dirty="0"/>
              <a:t>Non-Linear Models</a:t>
            </a:r>
          </a:p>
        </p:txBody>
      </p:sp>
    </p:spTree>
    <p:extLst>
      <p:ext uri="{BB962C8B-B14F-4D97-AF65-F5344CB8AC3E}">
        <p14:creationId xmlns:p14="http://schemas.microsoft.com/office/powerpoint/2010/main" val="17035299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Linear Model</a:t>
            </a:r>
            <a:endParaRPr lang="en-US" dirty="0"/>
          </a:p>
        </p:txBody>
      </p:sp>
      <p:sp>
        <p:nvSpPr>
          <p:cNvPr id="3" name="Content Placeholder 2"/>
          <p:cNvSpPr>
            <a:spLocks noGrp="1"/>
          </p:cNvSpPr>
          <p:nvPr>
            <p:ph idx="1"/>
          </p:nvPr>
        </p:nvSpPr>
        <p:spPr/>
        <p:txBody>
          <a:bodyPr/>
          <a:lstStyle/>
          <a:p>
            <a:pPr algn="just"/>
            <a:r>
              <a:rPr lang="en-US" dirty="0"/>
              <a:t>Assume a linear relationship between historical data and the target variable.</a:t>
            </a:r>
          </a:p>
          <a:p>
            <a:pPr algn="just"/>
            <a:r>
              <a:rPr lang="en-US" dirty="0"/>
              <a:t>Simpler and easier to interpret, making them suitable for basic forecasting tasks.</a:t>
            </a:r>
          </a:p>
          <a:p>
            <a:pPr algn="just"/>
            <a:r>
              <a:rPr lang="en-US" dirty="0"/>
              <a:t>Work well when data exhibits a linear trend or when seasonal patterns are adequately captured by their components.</a:t>
            </a:r>
          </a:p>
          <a:p>
            <a:pPr algn="just"/>
            <a:r>
              <a:rPr lang="en-US" dirty="0"/>
              <a:t>Common linear models include AR, MA, ARMA, and ARIMA.</a:t>
            </a:r>
          </a:p>
          <a:p>
            <a:pPr algn="just"/>
            <a:r>
              <a:rPr lang="en-US" dirty="0"/>
              <a:t>May struggle to capture complex and non-linear patterns in the data.</a:t>
            </a:r>
          </a:p>
          <a:p>
            <a:pPr algn="just"/>
            <a:r>
              <a:rPr lang="en-US" dirty="0"/>
              <a:t>Assume a straightforward relationship between past data and future predictions, which may not reflect the true underlying behavior of the time series</a:t>
            </a:r>
            <a:r>
              <a:rPr lang="en-US" dirty="0" smtClean="0"/>
              <a:t>.</a:t>
            </a:r>
            <a:endParaRPr lang="en-US" dirty="0"/>
          </a:p>
        </p:txBody>
      </p:sp>
    </p:spTree>
    <p:extLst>
      <p:ext uri="{BB962C8B-B14F-4D97-AF65-F5344CB8AC3E}">
        <p14:creationId xmlns:p14="http://schemas.microsoft.com/office/powerpoint/2010/main" val="16055053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Non-Linear model</a:t>
            </a:r>
            <a:endParaRPr lang="en-US" dirty="0"/>
          </a:p>
        </p:txBody>
      </p:sp>
      <p:sp>
        <p:nvSpPr>
          <p:cNvPr id="3" name="Content Placeholder 2"/>
          <p:cNvSpPr>
            <a:spLocks noGrp="1"/>
          </p:cNvSpPr>
          <p:nvPr>
            <p:ph idx="1"/>
          </p:nvPr>
        </p:nvSpPr>
        <p:spPr/>
        <p:txBody>
          <a:bodyPr/>
          <a:lstStyle/>
          <a:p>
            <a:pPr algn="just"/>
            <a:r>
              <a:rPr lang="en-US" dirty="0"/>
              <a:t>Do not assume a linear relationship between historical data and the target variable.</a:t>
            </a:r>
          </a:p>
          <a:p>
            <a:pPr algn="just"/>
            <a:r>
              <a:rPr lang="en-US" dirty="0"/>
              <a:t>Can capture more complex patterns and relationships in the data.</a:t>
            </a:r>
          </a:p>
          <a:p>
            <a:pPr algn="just"/>
            <a:r>
              <a:rPr lang="en-US" dirty="0"/>
              <a:t>Particularly useful when data exhibits non-linear trends or long-term dependencies.</a:t>
            </a:r>
          </a:p>
          <a:p>
            <a:pPr algn="just"/>
            <a:r>
              <a:rPr lang="en-US" dirty="0"/>
              <a:t>Examples include LSTM, SVM, and Prophet.</a:t>
            </a:r>
          </a:p>
          <a:p>
            <a:pPr algn="just"/>
            <a:r>
              <a:rPr lang="en-US" dirty="0"/>
              <a:t>Are more flexible and can handle a wider range of data patterns.</a:t>
            </a:r>
          </a:p>
          <a:p>
            <a:pPr algn="just"/>
            <a:r>
              <a:rPr lang="en-US" dirty="0"/>
              <a:t>Come with some disadvantages, including increased complexity, risk of overfitting, and the need for </a:t>
            </a:r>
            <a:r>
              <a:rPr lang="en-US" dirty="0" smtClean="0"/>
              <a:t>hyper parameter </a:t>
            </a:r>
            <a:r>
              <a:rPr lang="en-US" dirty="0"/>
              <a:t>tuning.</a:t>
            </a:r>
          </a:p>
        </p:txBody>
      </p:sp>
    </p:spTree>
    <p:extLst>
      <p:ext uri="{BB962C8B-B14F-4D97-AF65-F5344CB8AC3E}">
        <p14:creationId xmlns:p14="http://schemas.microsoft.com/office/powerpoint/2010/main" val="38895477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Tools</a:t>
            </a:r>
            <a:endParaRPr lang="en-US" dirty="0"/>
          </a:p>
        </p:txBody>
      </p:sp>
    </p:spTree>
    <p:extLst>
      <p:ext uri="{BB962C8B-B14F-4D97-AF65-F5344CB8AC3E}">
        <p14:creationId xmlns:p14="http://schemas.microsoft.com/office/powerpoint/2010/main" val="23101059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Tools</a:t>
            </a:r>
            <a:endParaRPr lang="en-US" dirty="0"/>
          </a:p>
        </p:txBody>
      </p:sp>
      <p:sp>
        <p:nvSpPr>
          <p:cNvPr id="5" name="Content Placeholder 4"/>
          <p:cNvSpPr>
            <a:spLocks noGrp="1"/>
          </p:cNvSpPr>
          <p:nvPr>
            <p:ph idx="1"/>
          </p:nvPr>
        </p:nvSpPr>
        <p:spPr/>
        <p:txBody>
          <a:bodyPr/>
          <a:lstStyle/>
          <a:p>
            <a:r>
              <a:rPr lang="en-US" dirty="0" smtClean="0"/>
              <a:t>IDE – Visual Studio Code</a:t>
            </a:r>
          </a:p>
          <a:p>
            <a:r>
              <a:rPr lang="en-US" dirty="0" smtClean="0"/>
              <a:t>Language – Python</a:t>
            </a:r>
          </a:p>
          <a:p>
            <a:r>
              <a:rPr lang="en-US" dirty="0" smtClean="0"/>
              <a:t>Database – Yahoo Finance</a:t>
            </a:r>
            <a:endParaRPr lang="en-US" dirty="0"/>
          </a:p>
        </p:txBody>
      </p:sp>
    </p:spTree>
    <p:extLst>
      <p:ext uri="{BB962C8B-B14F-4D97-AF65-F5344CB8AC3E}">
        <p14:creationId xmlns:p14="http://schemas.microsoft.com/office/powerpoint/2010/main" val="29525174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Project Planning</a:t>
            </a:r>
            <a:endParaRPr lang="en-US" dirty="0"/>
          </a:p>
        </p:txBody>
      </p:sp>
    </p:spTree>
    <p:extLst>
      <p:ext uri="{BB962C8B-B14F-4D97-AF65-F5344CB8AC3E}">
        <p14:creationId xmlns:p14="http://schemas.microsoft.com/office/powerpoint/2010/main" val="40722910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Project planning</a:t>
            </a:r>
            <a:endParaRPr lang="en-US" dirty="0"/>
          </a:p>
        </p:txBody>
      </p:sp>
      <p:sp>
        <p:nvSpPr>
          <p:cNvPr id="3" name="Content Placeholder 2"/>
          <p:cNvSpPr>
            <a:spLocks noGrp="1"/>
          </p:cNvSpPr>
          <p:nvPr>
            <p:ph idx="1"/>
          </p:nvPr>
        </p:nvSpPr>
        <p:spPr/>
        <p:txBody>
          <a:bodyPr/>
          <a:lstStyle/>
          <a:p>
            <a:r>
              <a:rPr lang="en-US" dirty="0" smtClean="0"/>
              <a:t>Outlining Tasks</a:t>
            </a:r>
          </a:p>
          <a:p>
            <a:r>
              <a:rPr lang="en-US" dirty="0" smtClean="0"/>
              <a:t>Timelines</a:t>
            </a:r>
          </a:p>
          <a:p>
            <a:r>
              <a:rPr lang="en-US" dirty="0" smtClean="0"/>
              <a:t>Dependencies</a:t>
            </a:r>
            <a:endParaRPr lang="en-US" dirty="0"/>
          </a:p>
          <a:p>
            <a:r>
              <a:rPr lang="en-US" dirty="0" smtClean="0"/>
              <a:t>Collecting Resources</a:t>
            </a:r>
          </a:p>
          <a:p>
            <a:r>
              <a:rPr lang="en-US" dirty="0" smtClean="0"/>
              <a:t>Work Breakdown Structure (WBS)</a:t>
            </a:r>
          </a:p>
          <a:p>
            <a:r>
              <a:rPr lang="en-US" dirty="0" smtClean="0"/>
              <a:t>Project Schedule and Milestones</a:t>
            </a:r>
            <a:endParaRPr lang="en-US" dirty="0"/>
          </a:p>
        </p:txBody>
      </p:sp>
    </p:spTree>
    <p:extLst>
      <p:ext uri="{BB962C8B-B14F-4D97-AF65-F5344CB8AC3E}">
        <p14:creationId xmlns:p14="http://schemas.microsoft.com/office/powerpoint/2010/main" val="4057977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Literature review</a:t>
            </a:r>
            <a:endParaRPr lang="en-US" dirty="0"/>
          </a:p>
        </p:txBody>
      </p:sp>
    </p:spTree>
    <p:extLst>
      <p:ext uri="{BB962C8B-B14F-4D97-AF65-F5344CB8AC3E}">
        <p14:creationId xmlns:p14="http://schemas.microsoft.com/office/powerpoint/2010/main" val="1852484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1-Traditional </a:t>
            </a:r>
            <a:r>
              <a:rPr lang="en-US" dirty="0"/>
              <a:t>Deep learning models</a:t>
            </a:r>
          </a:p>
        </p:txBody>
      </p:sp>
    </p:spTree>
    <p:extLst>
      <p:ext uri="{BB962C8B-B14F-4D97-AF65-F5344CB8AC3E}">
        <p14:creationId xmlns:p14="http://schemas.microsoft.com/office/powerpoint/2010/main" val="8895510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Recurrent Neural Networks (RNNs</a:t>
            </a:r>
            <a:r>
              <a:rPr lang="en-US" dirty="0" smtClean="0"/>
              <a:t>)</a:t>
            </a:r>
            <a:endParaRPr lang="en-US" dirty="0"/>
          </a:p>
        </p:txBody>
      </p:sp>
      <p:sp>
        <p:nvSpPr>
          <p:cNvPr id="5" name="Content Placeholder 4"/>
          <p:cNvSpPr>
            <a:spLocks noGrp="1"/>
          </p:cNvSpPr>
          <p:nvPr>
            <p:ph idx="1"/>
          </p:nvPr>
        </p:nvSpPr>
        <p:spPr/>
        <p:txBody>
          <a:bodyPr/>
          <a:lstStyle/>
          <a:p>
            <a:r>
              <a:rPr lang="en-US" dirty="0"/>
              <a:t>RNNs maintain a consistent input size and transition from one state to another.</a:t>
            </a:r>
          </a:p>
          <a:p>
            <a:r>
              <a:rPr lang="en-US" dirty="0" smtClean="0"/>
              <a:t>They </a:t>
            </a:r>
            <a:r>
              <a:rPr lang="en-US" dirty="0"/>
              <a:t>use an identical transition function with uniform parameters at each time step.</a:t>
            </a:r>
          </a:p>
        </p:txBody>
      </p:sp>
    </p:spTree>
    <p:extLst>
      <p:ext uri="{BB962C8B-B14F-4D97-AF65-F5344CB8AC3E}">
        <p14:creationId xmlns:p14="http://schemas.microsoft.com/office/powerpoint/2010/main" val="38523549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LSTM Architecture</a:t>
            </a:r>
            <a:endParaRPr lang="en-US" dirty="0"/>
          </a:p>
        </p:txBody>
      </p:sp>
      <p:sp>
        <p:nvSpPr>
          <p:cNvPr id="3" name="Content Placeholder 2"/>
          <p:cNvSpPr>
            <a:spLocks noGrp="1"/>
          </p:cNvSpPr>
          <p:nvPr>
            <p:ph idx="1"/>
          </p:nvPr>
        </p:nvSpPr>
        <p:spPr/>
        <p:txBody>
          <a:bodyPr/>
          <a:lstStyle/>
          <a:p>
            <a:pPr algn="just"/>
            <a:r>
              <a:rPr lang="en-US" dirty="0"/>
              <a:t>LSTM cells replace conventional hidden layers.</a:t>
            </a:r>
          </a:p>
          <a:p>
            <a:pPr algn="just"/>
            <a:r>
              <a:rPr lang="en-US" dirty="0" smtClean="0"/>
              <a:t>LSTM </a:t>
            </a:r>
            <a:r>
              <a:rPr lang="en-US" dirty="0"/>
              <a:t>cells include multiple gates (input gate, cell state, forget gate, and output gate).</a:t>
            </a:r>
          </a:p>
          <a:p>
            <a:pPr algn="just"/>
            <a:r>
              <a:rPr lang="en-US" dirty="0" smtClean="0"/>
              <a:t>Comprises </a:t>
            </a:r>
            <a:r>
              <a:rPr lang="en-US" dirty="0"/>
              <a:t>sigmoid and </a:t>
            </a:r>
            <a:r>
              <a:rPr lang="en-US" dirty="0" err="1"/>
              <a:t>tanh</a:t>
            </a:r>
            <a:r>
              <a:rPr lang="en-US" dirty="0"/>
              <a:t> layers and pointwise multiplication operations</a:t>
            </a:r>
            <a:r>
              <a:rPr lang="en-US" dirty="0" smtClean="0"/>
              <a:t>.</a:t>
            </a:r>
            <a:endParaRPr lang="en-US" dirty="0"/>
          </a:p>
        </p:txBody>
      </p:sp>
    </p:spTree>
    <p:extLst>
      <p:ext uri="{BB962C8B-B14F-4D97-AF65-F5344CB8AC3E}">
        <p14:creationId xmlns:p14="http://schemas.microsoft.com/office/powerpoint/2010/main" val="27797620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Bidirectional LSTM (BLSTM</a:t>
            </a:r>
            <a:r>
              <a:rPr lang="en-US" dirty="0" smtClean="0"/>
              <a:t>):</a:t>
            </a:r>
            <a:endParaRPr lang="en-US" dirty="0"/>
          </a:p>
        </p:txBody>
      </p:sp>
      <p:sp>
        <p:nvSpPr>
          <p:cNvPr id="3" name="Content Placeholder 2"/>
          <p:cNvSpPr>
            <a:spLocks noGrp="1"/>
          </p:cNvSpPr>
          <p:nvPr>
            <p:ph idx="1"/>
          </p:nvPr>
        </p:nvSpPr>
        <p:spPr/>
        <p:txBody>
          <a:bodyPr/>
          <a:lstStyle/>
          <a:p>
            <a:pPr algn="just"/>
            <a:r>
              <a:rPr lang="en-US" dirty="0" smtClean="0"/>
              <a:t>BLSTM </a:t>
            </a:r>
            <a:r>
              <a:rPr lang="en-US" dirty="0"/>
              <a:t>models predict data in both future-to-past and past-to-future directions.</a:t>
            </a:r>
          </a:p>
          <a:p>
            <a:pPr algn="just"/>
            <a:r>
              <a:rPr lang="en-US" dirty="0" smtClean="0"/>
              <a:t>Both </a:t>
            </a:r>
            <a:r>
              <a:rPr lang="en-US" dirty="0"/>
              <a:t>BLSTM and stacked LSTM networks perform better in short-term price predictions than long-term.</a:t>
            </a:r>
          </a:p>
          <a:p>
            <a:pPr algn="just"/>
            <a:r>
              <a:rPr lang="en-US" dirty="0" smtClean="0"/>
              <a:t>Deep </a:t>
            </a:r>
            <a:r>
              <a:rPr lang="en-US" dirty="0"/>
              <a:t>learning methods outperform shallow neural networks.</a:t>
            </a:r>
          </a:p>
          <a:p>
            <a:pPr algn="just"/>
            <a:r>
              <a:rPr lang="en-US" dirty="0" smtClean="0"/>
              <a:t>BLSTM </a:t>
            </a:r>
            <a:r>
              <a:rPr lang="en-US" dirty="0"/>
              <a:t>networks excel in short and long-term prediction tasks.</a:t>
            </a:r>
          </a:p>
          <a:p>
            <a:endParaRPr lang="en-US" dirty="0"/>
          </a:p>
        </p:txBody>
      </p:sp>
    </p:spTree>
    <p:extLst>
      <p:ext uri="{BB962C8B-B14F-4D97-AF65-F5344CB8AC3E}">
        <p14:creationId xmlns:p14="http://schemas.microsoft.com/office/powerpoint/2010/main" val="6481032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Algorithm Comparisons</a:t>
            </a:r>
            <a:r>
              <a:rPr lang="en-US" dirty="0" smtClean="0"/>
              <a:t>:</a:t>
            </a:r>
            <a:endParaRPr lang="en-US" dirty="0"/>
          </a:p>
        </p:txBody>
      </p:sp>
      <p:sp>
        <p:nvSpPr>
          <p:cNvPr id="3" name="Content Placeholder 2"/>
          <p:cNvSpPr>
            <a:spLocks noGrp="1"/>
          </p:cNvSpPr>
          <p:nvPr>
            <p:ph idx="1"/>
          </p:nvPr>
        </p:nvSpPr>
        <p:spPr/>
        <p:txBody>
          <a:bodyPr/>
          <a:lstStyle/>
          <a:p>
            <a:pPr algn="just"/>
            <a:r>
              <a:rPr lang="en-US" dirty="0" smtClean="0"/>
              <a:t>Back </a:t>
            </a:r>
            <a:r>
              <a:rPr lang="en-US" dirty="0"/>
              <a:t>Propagation uses </a:t>
            </a:r>
            <a:r>
              <a:rPr lang="en-US" dirty="0" err="1"/>
              <a:t>NumPy</a:t>
            </a:r>
            <a:r>
              <a:rPr lang="en-US" dirty="0"/>
              <a:t> and Pandas libraries for stock price prediction.</a:t>
            </a:r>
          </a:p>
          <a:p>
            <a:pPr algn="just"/>
            <a:r>
              <a:rPr lang="en-US" dirty="0" smtClean="0"/>
              <a:t>LSTM </a:t>
            </a:r>
            <a:r>
              <a:rPr lang="en-US" dirty="0"/>
              <a:t>outperforms Back Propagation and SVM for stock market prediction due to its suitability for time series problems.</a:t>
            </a:r>
          </a:p>
          <a:p>
            <a:pPr algn="just"/>
            <a:r>
              <a:rPr lang="en-US" dirty="0" smtClean="0"/>
              <a:t>SVM </a:t>
            </a:r>
            <a:r>
              <a:rPr lang="en-US" dirty="0"/>
              <a:t>acts as a non-probabilistic binary classifier, creating gaps between different classifications in the representation space.</a:t>
            </a:r>
          </a:p>
          <a:p>
            <a:endParaRPr lang="en-US" dirty="0"/>
          </a:p>
        </p:txBody>
      </p:sp>
    </p:spTree>
    <p:extLst>
      <p:ext uri="{BB962C8B-B14F-4D97-AF65-F5344CB8AC3E}">
        <p14:creationId xmlns:p14="http://schemas.microsoft.com/office/powerpoint/2010/main" val="5556368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Summary</a:t>
            </a:r>
            <a:endParaRPr lang="en-US" dirty="0"/>
          </a:p>
        </p:txBody>
      </p:sp>
      <p:sp>
        <p:nvSpPr>
          <p:cNvPr id="3" name="Content Placeholder 2"/>
          <p:cNvSpPr>
            <a:spLocks noGrp="1"/>
          </p:cNvSpPr>
          <p:nvPr>
            <p:ph idx="1"/>
          </p:nvPr>
        </p:nvSpPr>
        <p:spPr/>
        <p:txBody>
          <a:bodyPr/>
          <a:lstStyle/>
          <a:p>
            <a:pPr marL="0" indent="0" algn="just">
              <a:buNone/>
            </a:pPr>
            <a:r>
              <a:rPr lang="en-US" dirty="0"/>
              <a:t>In summary, this information highlights the use of RNNs, particularly LSTM and BLSTM, in stock market prediction, with LSTM being the most effective algorithm for time series forecasting in this context</a:t>
            </a:r>
            <a:r>
              <a:rPr lang="en-US" dirty="0" smtClean="0"/>
              <a:t>.</a:t>
            </a:r>
            <a:endParaRPr lang="en-US" dirty="0"/>
          </a:p>
        </p:txBody>
      </p:sp>
    </p:spTree>
    <p:extLst>
      <p:ext uri="{BB962C8B-B14F-4D97-AF65-F5344CB8AC3E}">
        <p14:creationId xmlns:p14="http://schemas.microsoft.com/office/powerpoint/2010/main" val="288923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2-Comparative </a:t>
            </a:r>
            <a:r>
              <a:rPr lang="en-US" dirty="0"/>
              <a:t>Study of Deep Learning Models</a:t>
            </a:r>
          </a:p>
        </p:txBody>
      </p:sp>
    </p:spTree>
    <p:extLst>
      <p:ext uri="{BB962C8B-B14F-4D97-AF65-F5344CB8AC3E}">
        <p14:creationId xmlns:p14="http://schemas.microsoft.com/office/powerpoint/2010/main" val="5396757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Overview of Financial Time Series Forecasting</a:t>
            </a:r>
            <a:r>
              <a:rPr lang="en-US" dirty="0" smtClean="0"/>
              <a:t>:</a:t>
            </a:r>
            <a:endParaRPr lang="en-US" dirty="0"/>
          </a:p>
        </p:txBody>
      </p:sp>
      <p:sp>
        <p:nvSpPr>
          <p:cNvPr id="3" name="Content Placeholder 2"/>
          <p:cNvSpPr>
            <a:spLocks noGrp="1"/>
          </p:cNvSpPr>
          <p:nvPr>
            <p:ph idx="1"/>
          </p:nvPr>
        </p:nvSpPr>
        <p:spPr/>
        <p:txBody>
          <a:bodyPr/>
          <a:lstStyle/>
          <a:p>
            <a:pPr algn="just"/>
            <a:r>
              <a:rPr lang="en-US" dirty="0" smtClean="0"/>
              <a:t>Financial </a:t>
            </a:r>
            <a:r>
              <a:rPr lang="en-US" dirty="0"/>
              <a:t>time series forecasting has been a focus for machine learning researchers for over four decades.</a:t>
            </a:r>
          </a:p>
          <a:p>
            <a:pPr algn="just"/>
            <a:r>
              <a:rPr lang="en-US" dirty="0" smtClean="0"/>
              <a:t>Recently</a:t>
            </a:r>
            <a:r>
              <a:rPr lang="en-US" dirty="0"/>
              <a:t>, deep learning (DL) methodologies have gained attention for predicting financial trends.</a:t>
            </a:r>
          </a:p>
          <a:p>
            <a:pPr algn="just"/>
            <a:r>
              <a:rPr lang="en-US" dirty="0" smtClean="0"/>
              <a:t>This </a:t>
            </a:r>
            <a:r>
              <a:rPr lang="en-US" dirty="0"/>
              <a:t>has led to a surge in new publications exploring DL techniques in financial prediction.</a:t>
            </a:r>
          </a:p>
          <a:p>
            <a:endParaRPr lang="en-US" dirty="0"/>
          </a:p>
          <a:p>
            <a:endParaRPr lang="en-US" dirty="0"/>
          </a:p>
        </p:txBody>
      </p:sp>
    </p:spTree>
    <p:extLst>
      <p:ext uri="{BB962C8B-B14F-4D97-AF65-F5344CB8AC3E}">
        <p14:creationId xmlns:p14="http://schemas.microsoft.com/office/powerpoint/2010/main" val="38248273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Challenges with Machine Learning in Finance</a:t>
            </a:r>
            <a:r>
              <a:rPr lang="en-US" dirty="0" smtClean="0"/>
              <a:t>:</a:t>
            </a:r>
            <a:endParaRPr lang="en-US" dirty="0"/>
          </a:p>
        </p:txBody>
      </p:sp>
      <p:sp>
        <p:nvSpPr>
          <p:cNvPr id="3" name="Content Placeholder 2"/>
          <p:cNvSpPr>
            <a:spLocks noGrp="1"/>
          </p:cNvSpPr>
          <p:nvPr>
            <p:ph idx="1"/>
          </p:nvPr>
        </p:nvSpPr>
        <p:spPr/>
        <p:txBody>
          <a:bodyPr/>
          <a:lstStyle/>
          <a:p>
            <a:pPr algn="just"/>
            <a:r>
              <a:rPr lang="en-US" dirty="0"/>
              <a:t>Machine learning algorithms' performance is highly dependent on data quality.</a:t>
            </a:r>
          </a:p>
          <a:p>
            <a:pPr algn="just"/>
            <a:r>
              <a:rPr lang="en-US" dirty="0" smtClean="0"/>
              <a:t>Stock </a:t>
            </a:r>
            <a:r>
              <a:rPr lang="en-US" dirty="0"/>
              <a:t>market time series data resembles a random walk, making feature engineering complex.</a:t>
            </a:r>
          </a:p>
          <a:p>
            <a:pPr algn="just"/>
            <a:r>
              <a:rPr lang="en-US" dirty="0" smtClean="0"/>
              <a:t>Deep </a:t>
            </a:r>
            <a:r>
              <a:rPr lang="en-US" dirty="0"/>
              <a:t>learning models have an advantage as they eliminate the need for separate feature engineering.</a:t>
            </a:r>
          </a:p>
        </p:txBody>
      </p:sp>
    </p:spTree>
    <p:extLst>
      <p:ext uri="{BB962C8B-B14F-4D97-AF65-F5344CB8AC3E}">
        <p14:creationId xmlns:p14="http://schemas.microsoft.com/office/powerpoint/2010/main" val="28455532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Comparative Evaluation of RNN Models</a:t>
            </a:r>
            <a:r>
              <a:rPr lang="en-US" dirty="0" smtClean="0"/>
              <a:t>:</a:t>
            </a:r>
            <a:endParaRPr lang="en-US" dirty="0"/>
          </a:p>
        </p:txBody>
      </p:sp>
      <p:sp>
        <p:nvSpPr>
          <p:cNvPr id="3" name="Content Placeholder 2"/>
          <p:cNvSpPr>
            <a:spLocks noGrp="1"/>
          </p:cNvSpPr>
          <p:nvPr>
            <p:ph idx="1"/>
          </p:nvPr>
        </p:nvSpPr>
        <p:spPr/>
        <p:txBody>
          <a:bodyPr/>
          <a:lstStyle/>
          <a:p>
            <a:pPr algn="just"/>
            <a:r>
              <a:rPr lang="en-US" dirty="0"/>
              <a:t>The study compares three recurrent neural network (RNN) models: Vanilla RNN (VRNN), Long Short-Term Memory (LSTM), and Gated Recurrent Unit (GRU).</a:t>
            </a:r>
          </a:p>
          <a:p>
            <a:pPr algn="just"/>
            <a:r>
              <a:rPr lang="en-US" dirty="0" smtClean="0"/>
              <a:t>These </a:t>
            </a:r>
            <a:r>
              <a:rPr lang="en-US" dirty="0"/>
              <a:t>RNN variants are renowned for sequence prediction.</a:t>
            </a:r>
          </a:p>
          <a:p>
            <a:pPr algn="just"/>
            <a:r>
              <a:rPr lang="en-US" dirty="0" smtClean="0"/>
              <a:t>The </a:t>
            </a:r>
            <a:r>
              <a:rPr lang="en-US" dirty="0"/>
              <a:t>research also examines the optimal look-back period used with RNNs for stock price prediction.</a:t>
            </a:r>
          </a:p>
          <a:p>
            <a:pPr algn="just"/>
            <a:r>
              <a:rPr lang="en-US" dirty="0" smtClean="0"/>
              <a:t>The </a:t>
            </a:r>
            <a:r>
              <a:rPr lang="en-US" dirty="0"/>
              <a:t>focus is on two prominent banking stocks: Nepal Investment Bank (NIB) and Nabil Bank Limited (NABIL), enhancing the empirical basis of the study.</a:t>
            </a:r>
          </a:p>
          <a:p>
            <a:endParaRPr lang="en-US" dirty="0"/>
          </a:p>
        </p:txBody>
      </p:sp>
    </p:spTree>
    <p:extLst>
      <p:ext uri="{BB962C8B-B14F-4D97-AF65-F5344CB8AC3E}">
        <p14:creationId xmlns:p14="http://schemas.microsoft.com/office/powerpoint/2010/main" val="20934671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summary</a:t>
            </a:r>
            <a:endParaRPr lang="en-US" dirty="0"/>
          </a:p>
        </p:txBody>
      </p:sp>
      <p:sp>
        <p:nvSpPr>
          <p:cNvPr id="3" name="Content Placeholder 2"/>
          <p:cNvSpPr>
            <a:spLocks noGrp="1"/>
          </p:cNvSpPr>
          <p:nvPr>
            <p:ph idx="1"/>
          </p:nvPr>
        </p:nvSpPr>
        <p:spPr/>
        <p:txBody>
          <a:bodyPr/>
          <a:lstStyle/>
          <a:p>
            <a:pPr marL="0" indent="0" algn="just">
              <a:buNone/>
            </a:pPr>
            <a:r>
              <a:rPr lang="en-US" dirty="0"/>
              <a:t>In summary, this survey discusses the resurgence of interest in financial time series forecasting, particularly with deep learning methods. It highlights the challenges in applying machine learning to stock market data and presents a comparative evaluation of RNN models and look-back periods for stock price prediction using real banking stocks</a:t>
            </a:r>
            <a:r>
              <a:rPr lang="en-US" dirty="0" smtClean="0"/>
              <a:t>.</a:t>
            </a:r>
            <a:endParaRPr lang="en-US" dirty="0"/>
          </a:p>
        </p:txBody>
      </p:sp>
    </p:spTree>
    <p:extLst>
      <p:ext uri="{BB962C8B-B14F-4D97-AF65-F5344CB8AC3E}">
        <p14:creationId xmlns:p14="http://schemas.microsoft.com/office/powerpoint/2010/main" val="10865058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3-Sentiment-Enhanced </a:t>
            </a:r>
            <a:r>
              <a:rPr lang="en-US" dirty="0"/>
              <a:t>Models for Stock Trend </a:t>
            </a:r>
            <a:r>
              <a:rPr lang="en-US" dirty="0" smtClean="0"/>
              <a:t>Prediction</a:t>
            </a:r>
            <a:endParaRPr lang="en-US" dirty="0"/>
          </a:p>
        </p:txBody>
      </p:sp>
    </p:spTree>
    <p:extLst>
      <p:ext uri="{BB962C8B-B14F-4D97-AF65-F5344CB8AC3E}">
        <p14:creationId xmlns:p14="http://schemas.microsoft.com/office/powerpoint/2010/main" val="9484770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t>Introduction of TGRU and Stock2Vec</a:t>
            </a:r>
            <a:endParaRPr lang="en-US" dirty="0"/>
          </a:p>
        </p:txBody>
      </p:sp>
      <p:sp>
        <p:nvSpPr>
          <p:cNvPr id="5" name="Content Placeholder 4"/>
          <p:cNvSpPr>
            <a:spLocks noGrp="1"/>
          </p:cNvSpPr>
          <p:nvPr>
            <p:ph idx="1"/>
          </p:nvPr>
        </p:nvSpPr>
        <p:spPr/>
        <p:txBody>
          <a:bodyPr/>
          <a:lstStyle/>
          <a:p>
            <a:r>
              <a:rPr lang="en-US" dirty="0"/>
              <a:t>Minh et al. introduced a novel approach involving a two-stream Gated Recurrent Unit (TGRU) network.</a:t>
            </a:r>
          </a:p>
          <a:p>
            <a:r>
              <a:rPr lang="en-US" dirty="0"/>
              <a:t>They also used a sentiment-enhanced word embedding model called Stock2Vec.</a:t>
            </a:r>
          </a:p>
          <a:p>
            <a:r>
              <a:rPr lang="en-US" dirty="0"/>
              <a:t>Their goal was short-term stock trend prediction.</a:t>
            </a:r>
          </a:p>
          <a:p>
            <a:r>
              <a:rPr lang="en-US" dirty="0"/>
              <a:t>Findings demonstrated that the TGRU model outperformed conventional Gated Recurrent Unit (GRU) and Long Short-Term Memory (LSTM) architectures.</a:t>
            </a:r>
            <a:endParaRPr lang="en-US" dirty="0"/>
          </a:p>
        </p:txBody>
      </p:sp>
    </p:spTree>
    <p:extLst>
      <p:ext uri="{BB962C8B-B14F-4D97-AF65-F5344CB8AC3E}">
        <p14:creationId xmlns:p14="http://schemas.microsoft.com/office/powerpoint/2010/main" val="29106523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Deep Learning Model Capabilities:</a:t>
            </a:r>
            <a:endParaRPr lang="en-US" dirty="0"/>
          </a:p>
        </p:txBody>
      </p:sp>
      <p:sp>
        <p:nvSpPr>
          <p:cNvPr id="3" name="Content Placeholder 2"/>
          <p:cNvSpPr>
            <a:spLocks noGrp="1"/>
          </p:cNvSpPr>
          <p:nvPr>
            <p:ph idx="1"/>
          </p:nvPr>
        </p:nvSpPr>
        <p:spPr/>
        <p:txBody>
          <a:bodyPr/>
          <a:lstStyle/>
          <a:p>
            <a:pPr algn="just"/>
            <a:r>
              <a:rPr lang="en-US" dirty="0"/>
              <a:t>Deep learning models, particularly LSTM, excel at extracting intricate temporal patterns from time series data.</a:t>
            </a:r>
          </a:p>
          <a:p>
            <a:pPr algn="just"/>
            <a:r>
              <a:rPr lang="en-US" dirty="0"/>
              <a:t>Unlike traditional machine learning models that rely on hand-engineered features, deep </a:t>
            </a:r>
            <a:r>
              <a:rPr lang="en-US" dirty="0" smtClean="0"/>
              <a:t>learning models autonomously uncover complex temporal dependencies.</a:t>
            </a:r>
          </a:p>
          <a:p>
            <a:pPr algn="just"/>
            <a:r>
              <a:rPr lang="en-US" dirty="0"/>
              <a:t>The investigation showed that LSTM-based deep learning models consistently outperformed conventional machine learning models.</a:t>
            </a:r>
          </a:p>
          <a:p>
            <a:pPr algn="just"/>
            <a:r>
              <a:rPr lang="en-US" dirty="0"/>
              <a:t>Deep learning models exhibited exceptional prowess in discerning and internalizing intrinsic characteristics within time series data.</a:t>
            </a:r>
          </a:p>
          <a:p>
            <a:pPr algn="just"/>
            <a:r>
              <a:rPr lang="en-US" dirty="0"/>
              <a:t>Rigorous experiments systematically validated their superior predictive capabilities</a:t>
            </a:r>
            <a:r>
              <a:rPr lang="en-US" dirty="0" smtClean="0"/>
              <a:t>.</a:t>
            </a:r>
            <a:endParaRPr lang="en-US" dirty="0"/>
          </a:p>
        </p:txBody>
      </p:sp>
    </p:spTree>
    <p:extLst>
      <p:ext uri="{BB962C8B-B14F-4D97-AF65-F5344CB8AC3E}">
        <p14:creationId xmlns:p14="http://schemas.microsoft.com/office/powerpoint/2010/main" val="24989222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summary</a:t>
            </a:r>
            <a:endParaRPr lang="en-US" dirty="0"/>
          </a:p>
        </p:txBody>
      </p:sp>
      <p:sp>
        <p:nvSpPr>
          <p:cNvPr id="3" name="Content Placeholder 2"/>
          <p:cNvSpPr>
            <a:spLocks noGrp="1"/>
          </p:cNvSpPr>
          <p:nvPr>
            <p:ph idx="1"/>
          </p:nvPr>
        </p:nvSpPr>
        <p:spPr/>
        <p:txBody>
          <a:bodyPr/>
          <a:lstStyle/>
          <a:p>
            <a:pPr marL="0" indent="0">
              <a:buNone/>
            </a:pPr>
            <a:r>
              <a:rPr lang="en-US" dirty="0"/>
              <a:t>In summary, the study highlights the success of deep learning models, particularly LSTM-based models, in capturing complex temporal patterns in time series data for stock price prediction, surpassing the performance of traditional machine learning models.</a:t>
            </a:r>
            <a:endParaRPr lang="en-US" dirty="0"/>
          </a:p>
        </p:txBody>
      </p:sp>
    </p:spTree>
    <p:extLst>
      <p:ext uri="{BB962C8B-B14F-4D97-AF65-F5344CB8AC3E}">
        <p14:creationId xmlns:p14="http://schemas.microsoft.com/office/powerpoint/2010/main" val="10247119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dirty="0" smtClean="0"/>
              <a:t>4-Deep </a:t>
            </a:r>
            <a:r>
              <a:rPr lang="en-US" dirty="0"/>
              <a:t>Learning Models for Cross-Market Stock Price </a:t>
            </a:r>
            <a:r>
              <a:rPr lang="en-US" dirty="0" smtClean="0"/>
              <a:t>Prediction</a:t>
            </a:r>
            <a:endParaRPr lang="en-US" dirty="0"/>
          </a:p>
        </p:txBody>
      </p:sp>
    </p:spTree>
    <p:extLst>
      <p:ext uri="{BB962C8B-B14F-4D97-AF65-F5344CB8AC3E}">
        <p14:creationId xmlns:p14="http://schemas.microsoft.com/office/powerpoint/2010/main" val="40127528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smtClean="0"/>
              <a:t>Model Performance</a:t>
            </a:r>
            <a:endParaRPr lang="en-US" dirty="0"/>
          </a:p>
        </p:txBody>
      </p:sp>
      <p:sp>
        <p:nvSpPr>
          <p:cNvPr id="7" name="Content Placeholder 6"/>
          <p:cNvSpPr>
            <a:spLocks noGrp="1"/>
          </p:cNvSpPr>
          <p:nvPr>
            <p:ph idx="1"/>
          </p:nvPr>
        </p:nvSpPr>
        <p:spPr/>
        <p:txBody>
          <a:bodyPr/>
          <a:lstStyle/>
          <a:p>
            <a:pPr algn="just"/>
            <a:r>
              <a:rPr lang="en-US" dirty="0"/>
              <a:t>Four types of deep neural networks were employed in the analysis: MLP, RNN, LSTM, and CNN models</a:t>
            </a:r>
            <a:r>
              <a:rPr lang="en-US" dirty="0" smtClean="0"/>
              <a:t>.</a:t>
            </a:r>
          </a:p>
          <a:p>
            <a:pPr algn="just"/>
            <a:r>
              <a:rPr lang="en-US" dirty="0"/>
              <a:t>MLP network successfully captured seasonal patterns but faced challenges in capturing patterns between days 1600 and 1900.</a:t>
            </a:r>
          </a:p>
          <a:p>
            <a:pPr algn="just"/>
            <a:r>
              <a:rPr lang="en-US" dirty="0"/>
              <a:t>RNN model showed promising results and was generally successful in identifying underlying patterns.</a:t>
            </a:r>
          </a:p>
          <a:p>
            <a:pPr algn="just"/>
            <a:r>
              <a:rPr lang="en-US" dirty="0"/>
              <a:t>LSTM and CNN models encountered difficulties in capturing changes in the system during the period between days 1400 and 1800</a:t>
            </a:r>
            <a:r>
              <a:rPr lang="en-US" dirty="0" smtClean="0"/>
              <a:t>.</a:t>
            </a:r>
            <a:endParaRPr lang="en-US" dirty="0"/>
          </a:p>
        </p:txBody>
      </p:sp>
    </p:spTree>
    <p:extLst>
      <p:ext uri="{BB962C8B-B14F-4D97-AF65-F5344CB8AC3E}">
        <p14:creationId xmlns:p14="http://schemas.microsoft.com/office/powerpoint/2010/main" val="112999702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Summary</a:t>
            </a:r>
            <a:endParaRPr lang="en-US" dirty="0"/>
          </a:p>
        </p:txBody>
      </p:sp>
      <p:sp>
        <p:nvSpPr>
          <p:cNvPr id="3" name="Content Placeholder 2"/>
          <p:cNvSpPr>
            <a:spLocks noGrp="1"/>
          </p:cNvSpPr>
          <p:nvPr>
            <p:ph idx="1"/>
          </p:nvPr>
        </p:nvSpPr>
        <p:spPr/>
        <p:txBody>
          <a:bodyPr/>
          <a:lstStyle/>
          <a:p>
            <a:pPr marL="0" indent="0" algn="just">
              <a:buNone/>
            </a:pPr>
            <a:r>
              <a:rPr lang="en-US" dirty="0"/>
              <a:t>In summary, the dataset encompasses stock data from different sectors, and four deep neural network models (MLP, RNN, LSTM, CNN) were used for analysis. The MLP model excelled in capturing seasonal patterns, while the RNN model showed promise in identifying underlying patterns. However, the LSTM and CNN models faced challenges during specific time periods.</a:t>
            </a:r>
            <a:endParaRPr lang="en-US" dirty="0"/>
          </a:p>
        </p:txBody>
      </p:sp>
    </p:spTree>
    <p:extLst>
      <p:ext uri="{BB962C8B-B14F-4D97-AF65-F5344CB8AC3E}">
        <p14:creationId xmlns:p14="http://schemas.microsoft.com/office/powerpoint/2010/main" val="11359383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dirty="0" smtClean="0"/>
              <a:t>5-Deep </a:t>
            </a:r>
            <a:r>
              <a:rPr lang="en-US" dirty="0"/>
              <a:t>Learning’s Dominance in Financial Time Series Forecasting</a:t>
            </a:r>
            <a:r>
              <a:rPr lang="en-US" dirty="0" smtClean="0"/>
              <a:t>:</a:t>
            </a:r>
            <a:endParaRPr lang="en-US" dirty="0"/>
          </a:p>
        </p:txBody>
      </p:sp>
    </p:spTree>
    <p:extLst>
      <p:ext uri="{BB962C8B-B14F-4D97-AF65-F5344CB8AC3E}">
        <p14:creationId xmlns:p14="http://schemas.microsoft.com/office/powerpoint/2010/main" val="114650221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a:t>Hiransha</a:t>
            </a:r>
            <a:r>
              <a:rPr lang="en-US" b="1" dirty="0"/>
              <a:t> et al.'s Stock Price Prediction </a:t>
            </a:r>
            <a:r>
              <a:rPr lang="en-US" b="1" dirty="0" smtClean="0"/>
              <a:t>Study</a:t>
            </a:r>
            <a:endParaRPr lang="en-US" dirty="0"/>
          </a:p>
        </p:txBody>
      </p:sp>
      <p:sp>
        <p:nvSpPr>
          <p:cNvPr id="3" name="Content Placeholder 2"/>
          <p:cNvSpPr>
            <a:spLocks noGrp="1"/>
          </p:cNvSpPr>
          <p:nvPr>
            <p:ph idx="1"/>
          </p:nvPr>
        </p:nvSpPr>
        <p:spPr/>
        <p:txBody>
          <a:bodyPr/>
          <a:lstStyle/>
          <a:p>
            <a:pPr algn="just"/>
            <a:r>
              <a:rPr lang="en-US" dirty="0"/>
              <a:t>The study used four deep learning architectures and an </a:t>
            </a:r>
            <a:r>
              <a:rPr lang="en-US" dirty="0" err="1"/>
              <a:t>AutoRegressive</a:t>
            </a:r>
            <a:r>
              <a:rPr lang="en-US" dirty="0"/>
              <a:t> Integrated Moving Average (ARIMA) model.</a:t>
            </a:r>
          </a:p>
          <a:p>
            <a:pPr algn="just"/>
            <a:r>
              <a:rPr lang="en-US" dirty="0"/>
              <a:t>Models were trained with TATA MOTORS' stock prices from the National Stock Exchange of India (NSE) and tested on both NSE and New York Stock Exchange (NYSE) stocks.</a:t>
            </a:r>
          </a:p>
          <a:p>
            <a:pPr algn="just"/>
            <a:r>
              <a:rPr lang="en-US" dirty="0"/>
              <a:t>Deep learning models, including MLP, RNN, LSTM, and CNN, outperformed ARIMA.</a:t>
            </a:r>
          </a:p>
          <a:p>
            <a:pPr algn="just"/>
            <a:r>
              <a:rPr lang="en-US" dirty="0"/>
              <a:t>CNN exhibited superior performance among the deep learning architectures.</a:t>
            </a:r>
          </a:p>
        </p:txBody>
      </p:sp>
    </p:spTree>
    <p:extLst>
      <p:ext uri="{BB962C8B-B14F-4D97-AF65-F5344CB8AC3E}">
        <p14:creationId xmlns:p14="http://schemas.microsoft.com/office/powerpoint/2010/main" val="77312703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Deep Learning in Stock Price Prediction:</a:t>
            </a:r>
            <a:endParaRPr lang="en-US" dirty="0"/>
          </a:p>
        </p:txBody>
      </p:sp>
      <p:sp>
        <p:nvSpPr>
          <p:cNvPr id="3" name="Content Placeholder 2"/>
          <p:cNvSpPr>
            <a:spLocks noGrp="1"/>
          </p:cNvSpPr>
          <p:nvPr>
            <p:ph idx="1"/>
          </p:nvPr>
        </p:nvSpPr>
        <p:spPr/>
        <p:txBody>
          <a:bodyPr/>
          <a:lstStyle/>
          <a:p>
            <a:pPr algn="just"/>
            <a:r>
              <a:rPr lang="en-US" dirty="0"/>
              <a:t>Deep learning is a prominent subset of machine learning.</a:t>
            </a:r>
          </a:p>
          <a:p>
            <a:pPr algn="just"/>
            <a:r>
              <a:rPr lang="en-US" dirty="0"/>
              <a:t>It uses neural networks with multiple layers, evolving weights during training to make predictions.</a:t>
            </a:r>
          </a:p>
          <a:p>
            <a:pPr algn="just"/>
            <a:r>
              <a:rPr lang="en-US" dirty="0"/>
              <a:t>Neural networks autonomously learn and understand patterns from data without explicit definition.</a:t>
            </a:r>
          </a:p>
          <a:p>
            <a:pPr algn="just"/>
            <a:r>
              <a:rPr lang="en-US" dirty="0"/>
              <a:t>Neural networks consist of interconnected neurons, influenced by weights, biases, and activation functions.</a:t>
            </a:r>
          </a:p>
          <a:p>
            <a:pPr algn="just"/>
            <a:r>
              <a:rPr lang="en-US" dirty="0"/>
              <a:t>Deep learning excels at handling large input datasets and progressively learns intricate data features, enhancing predictive accuracy.</a:t>
            </a:r>
          </a:p>
        </p:txBody>
      </p:sp>
    </p:spTree>
    <p:extLst>
      <p:ext uri="{BB962C8B-B14F-4D97-AF65-F5344CB8AC3E}">
        <p14:creationId xmlns:p14="http://schemas.microsoft.com/office/powerpoint/2010/main" val="422635077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Prediction Results and Challenges:</a:t>
            </a:r>
            <a:endParaRPr lang="en-US" dirty="0"/>
          </a:p>
        </p:txBody>
      </p:sp>
      <p:sp>
        <p:nvSpPr>
          <p:cNvPr id="3" name="Content Placeholder 2"/>
          <p:cNvSpPr>
            <a:spLocks noGrp="1"/>
          </p:cNvSpPr>
          <p:nvPr>
            <p:ph idx="1"/>
          </p:nvPr>
        </p:nvSpPr>
        <p:spPr/>
        <p:txBody>
          <a:bodyPr/>
          <a:lstStyle/>
          <a:p>
            <a:pPr algn="just"/>
            <a:r>
              <a:rPr lang="en-US" dirty="0"/>
              <a:t>Preliminary results achieved around 85% accuracy using deep learning models based on closing price values.</a:t>
            </a:r>
          </a:p>
          <a:p>
            <a:pPr algn="just"/>
            <a:r>
              <a:rPr lang="en-US" dirty="0"/>
              <a:t>Regression Gradient Boosting Machine (GBM) approach also achieved around 85% accuracy.</a:t>
            </a:r>
          </a:p>
          <a:p>
            <a:pPr algn="just"/>
            <a:r>
              <a:rPr lang="en-US" dirty="0"/>
              <a:t>Deep learning models demonstrated accuracy levels exceeding 70%.</a:t>
            </a:r>
          </a:p>
          <a:p>
            <a:pPr algn="just"/>
            <a:r>
              <a:rPr lang="en-US" dirty="0"/>
              <a:t>Ensemble algorithms outperformed alternative predictive techniques.</a:t>
            </a:r>
          </a:p>
          <a:p>
            <a:pPr algn="just"/>
            <a:r>
              <a:rPr lang="en-US" dirty="0"/>
              <a:t>The stock market's inherent dynamism makes 100% accuracy nearly unattainable.</a:t>
            </a:r>
          </a:p>
          <a:p>
            <a:pPr algn="just"/>
            <a:r>
              <a:rPr lang="en-US" dirty="0"/>
              <a:t>Margin of error ranged from 0.0% to 13.3% in monthly stock data collection.</a:t>
            </a:r>
          </a:p>
          <a:p>
            <a:pPr algn="just"/>
            <a:r>
              <a:rPr lang="en-US" dirty="0"/>
              <a:t>Gray relation coefficient was used to evaluate individual company rankings.</a:t>
            </a:r>
          </a:p>
        </p:txBody>
      </p:sp>
    </p:spTree>
    <p:extLst>
      <p:ext uri="{BB962C8B-B14F-4D97-AF65-F5344CB8AC3E}">
        <p14:creationId xmlns:p14="http://schemas.microsoft.com/office/powerpoint/2010/main" val="365181806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Future Directions and Enhancements:</a:t>
            </a:r>
            <a:endParaRPr lang="en-US" dirty="0"/>
          </a:p>
        </p:txBody>
      </p:sp>
      <p:sp>
        <p:nvSpPr>
          <p:cNvPr id="3" name="Content Placeholder 2"/>
          <p:cNvSpPr>
            <a:spLocks noGrp="1"/>
          </p:cNvSpPr>
          <p:nvPr>
            <p:ph idx="1"/>
          </p:nvPr>
        </p:nvSpPr>
        <p:spPr/>
        <p:txBody>
          <a:bodyPr/>
          <a:lstStyle/>
          <a:p>
            <a:pPr algn="just"/>
            <a:r>
              <a:rPr lang="en-US" dirty="0"/>
              <a:t>Enhancing data collection methods, especially capturing data fluctuations during trading hours.</a:t>
            </a:r>
          </a:p>
          <a:p>
            <a:pPr algn="just"/>
            <a:r>
              <a:rPr lang="en-US" dirty="0"/>
              <a:t>Integration of high-frequency trading algorithms to improve prediction accuracy.</a:t>
            </a:r>
          </a:p>
          <a:p>
            <a:pPr algn="just"/>
            <a:r>
              <a:rPr lang="en-US" dirty="0"/>
              <a:t>Efforts to refine feature extraction techniques for better predictive capabilities.</a:t>
            </a:r>
          </a:p>
          <a:p>
            <a:pPr algn="just"/>
            <a:r>
              <a:rPr lang="en-US" dirty="0"/>
              <a:t>Considering new elements from data to augment existing technical indices in prediction models.</a:t>
            </a:r>
          </a:p>
        </p:txBody>
      </p:sp>
    </p:spTree>
    <p:extLst>
      <p:ext uri="{BB962C8B-B14F-4D97-AF65-F5344CB8AC3E}">
        <p14:creationId xmlns:p14="http://schemas.microsoft.com/office/powerpoint/2010/main" val="339480931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Summary</a:t>
            </a:r>
            <a:endParaRPr lang="en-US" dirty="0"/>
          </a:p>
        </p:txBody>
      </p:sp>
      <p:sp>
        <p:nvSpPr>
          <p:cNvPr id="3" name="Content Placeholder 2"/>
          <p:cNvSpPr>
            <a:spLocks noGrp="1"/>
          </p:cNvSpPr>
          <p:nvPr>
            <p:ph idx="1"/>
          </p:nvPr>
        </p:nvSpPr>
        <p:spPr/>
        <p:txBody>
          <a:bodyPr/>
          <a:lstStyle/>
          <a:p>
            <a:pPr marL="0" indent="0" algn="just">
              <a:buNone/>
            </a:pPr>
            <a:r>
              <a:rPr lang="en-US" dirty="0"/>
              <a:t>In summary, the study by </a:t>
            </a:r>
            <a:r>
              <a:rPr lang="en-US" dirty="0" err="1"/>
              <a:t>Hiransha</a:t>
            </a:r>
            <a:r>
              <a:rPr lang="en-US" dirty="0"/>
              <a:t> et al. explored stock price prediction using deep learning models and compared their performance with an ARIMA model. Deep learning models showed promise in achieving high accuracy, especially CNN, and future research directions include data augmentation and feature refinement for improved predictions. Additionally, integrating new data elements with existing indices is considered beneficial for prediction models.</a:t>
            </a:r>
            <a:endParaRPr lang="en-US" dirty="0"/>
          </a:p>
        </p:txBody>
      </p:sp>
    </p:spTree>
    <p:extLst>
      <p:ext uri="{BB962C8B-B14F-4D97-AF65-F5344CB8AC3E}">
        <p14:creationId xmlns:p14="http://schemas.microsoft.com/office/powerpoint/2010/main" val="5288096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Methodology</a:t>
            </a:r>
          </a:p>
        </p:txBody>
      </p:sp>
    </p:spTree>
    <p:extLst>
      <p:ext uri="{BB962C8B-B14F-4D97-AF65-F5344CB8AC3E}">
        <p14:creationId xmlns:p14="http://schemas.microsoft.com/office/powerpoint/2010/main" val="167229583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1-AutoRegressive Integrated Moving Average (ARIMA</a:t>
            </a:r>
            <a:r>
              <a:rPr lang="en-US" dirty="0" smtClean="0"/>
              <a:t>)</a:t>
            </a:r>
            <a:endParaRPr lang="en-US" dirty="0"/>
          </a:p>
        </p:txBody>
      </p:sp>
    </p:spTree>
    <p:extLst>
      <p:ext uri="{BB962C8B-B14F-4D97-AF65-F5344CB8AC3E}">
        <p14:creationId xmlns:p14="http://schemas.microsoft.com/office/powerpoint/2010/main" val="56602574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err="1"/>
              <a:t>AutoRegressive</a:t>
            </a:r>
            <a:r>
              <a:rPr lang="en-US" dirty="0"/>
              <a:t> Integrated Moving Average (ARIMA):</a:t>
            </a:r>
          </a:p>
        </p:txBody>
      </p:sp>
      <p:sp>
        <p:nvSpPr>
          <p:cNvPr id="5" name="Content Placeholder 4"/>
          <p:cNvSpPr>
            <a:spLocks noGrp="1"/>
          </p:cNvSpPr>
          <p:nvPr>
            <p:ph idx="1"/>
          </p:nvPr>
        </p:nvSpPr>
        <p:spPr/>
        <p:txBody>
          <a:bodyPr/>
          <a:lstStyle/>
          <a:p>
            <a:pPr algn="just"/>
            <a:r>
              <a:rPr lang="en-US" dirty="0"/>
              <a:t>ARIMA is a statistical method for analyzing and forecasting time series data.</a:t>
            </a:r>
          </a:p>
          <a:p>
            <a:pPr algn="just"/>
            <a:r>
              <a:rPr lang="en-US" dirty="0"/>
              <a:t>It combines three key components: Autoregressive (AR), Differencing to achieve stationarity (I), and Moving Average (MA</a:t>
            </a:r>
            <a:r>
              <a:rPr lang="en-US" dirty="0" smtClean="0"/>
              <a:t>).</a:t>
            </a:r>
          </a:p>
          <a:p>
            <a:pPr algn="just"/>
            <a:r>
              <a:rPr lang="en-US" dirty="0"/>
              <a:t>ARIMA models are widely used in various fields, including economics, finance, climate science, and more.</a:t>
            </a:r>
          </a:p>
          <a:p>
            <a:pPr algn="just"/>
            <a:r>
              <a:rPr lang="en-US" dirty="0"/>
              <a:t>They are effective for analyzing historical trends, identifying patterns, and making predictions about future values in time series data</a:t>
            </a:r>
            <a:r>
              <a:rPr lang="en-US" dirty="0" smtClean="0"/>
              <a:t>.</a:t>
            </a:r>
            <a:endParaRPr lang="en-US" dirty="0"/>
          </a:p>
        </p:txBody>
      </p:sp>
    </p:spTree>
    <p:extLst>
      <p:ext uri="{BB962C8B-B14F-4D97-AF65-F5344CB8AC3E}">
        <p14:creationId xmlns:p14="http://schemas.microsoft.com/office/powerpoint/2010/main" val="21489484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ARIMA Parameters:</a:t>
            </a:r>
            <a:endParaRPr lang="en-US" dirty="0"/>
          </a:p>
        </p:txBody>
      </p:sp>
      <p:sp>
        <p:nvSpPr>
          <p:cNvPr id="3" name="Content Placeholder 2"/>
          <p:cNvSpPr>
            <a:spLocks noGrp="1"/>
          </p:cNvSpPr>
          <p:nvPr>
            <p:ph idx="1"/>
          </p:nvPr>
        </p:nvSpPr>
        <p:spPr/>
        <p:txBody>
          <a:bodyPr>
            <a:normAutofit fontScale="92500" lnSpcReduction="10000"/>
          </a:bodyPr>
          <a:lstStyle/>
          <a:p>
            <a:pPr algn="just"/>
            <a:r>
              <a:rPr lang="en-US" b="1" dirty="0"/>
              <a:t>p (Autoregressive Order):</a:t>
            </a:r>
            <a:endParaRPr lang="en-US" dirty="0"/>
          </a:p>
          <a:p>
            <a:pPr lvl="1" algn="just"/>
            <a:r>
              <a:rPr lang="en-US" dirty="0"/>
              <a:t>p determines the number of autoregressive (AR) orders in the model.</a:t>
            </a:r>
          </a:p>
          <a:p>
            <a:pPr lvl="1" algn="just"/>
            <a:r>
              <a:rPr lang="en-US" dirty="0"/>
              <a:t>It represents the number of past observations used to predict future values.</a:t>
            </a:r>
          </a:p>
          <a:p>
            <a:pPr lvl="1" algn="just"/>
            <a:r>
              <a:rPr lang="en-US" dirty="0"/>
              <a:t>A higher p value indicates a model that relies on a longer history of past observations.</a:t>
            </a:r>
          </a:p>
          <a:p>
            <a:pPr algn="just"/>
            <a:r>
              <a:rPr lang="en-US" b="1" dirty="0"/>
              <a:t>d (Differencing Order):</a:t>
            </a:r>
            <a:endParaRPr lang="en-US" dirty="0"/>
          </a:p>
          <a:p>
            <a:pPr lvl="1" algn="just"/>
            <a:r>
              <a:rPr lang="en-US" dirty="0"/>
              <a:t>d determines the order of differencing required to make the time series stationary.</a:t>
            </a:r>
          </a:p>
          <a:p>
            <a:pPr lvl="1" algn="just"/>
            <a:r>
              <a:rPr lang="en-US" dirty="0"/>
              <a:t>Stationarity means that the statistical properties of the time series, such as mean and variance, do not change over time.</a:t>
            </a:r>
          </a:p>
          <a:p>
            <a:pPr lvl="1" algn="just"/>
            <a:r>
              <a:rPr lang="en-US" dirty="0"/>
              <a:t>Differencing involves subtracting the current value from a lagged value to remove trends or seasonality.</a:t>
            </a:r>
          </a:p>
          <a:p>
            <a:pPr algn="just"/>
            <a:r>
              <a:rPr lang="en-US" b="1" dirty="0"/>
              <a:t>q (Moving Average Order):</a:t>
            </a:r>
            <a:endParaRPr lang="en-US" dirty="0"/>
          </a:p>
          <a:p>
            <a:pPr lvl="1" algn="just"/>
            <a:r>
              <a:rPr lang="en-US" dirty="0"/>
              <a:t>q determines the number of moving average (MA) orders in the model.</a:t>
            </a:r>
          </a:p>
          <a:p>
            <a:pPr lvl="1" algn="just"/>
            <a:r>
              <a:rPr lang="en-US" dirty="0"/>
              <a:t>It represents the number of past forecast errors used to predict future values.</a:t>
            </a:r>
          </a:p>
          <a:p>
            <a:pPr lvl="1" algn="just"/>
            <a:r>
              <a:rPr lang="en-US" dirty="0"/>
              <a:t>A higher q value indicates a model that considers a longer history of past forecast errors</a:t>
            </a:r>
            <a:r>
              <a:rPr lang="en-US" dirty="0" smtClean="0"/>
              <a:t>.</a:t>
            </a:r>
            <a:endParaRPr lang="en-US" dirty="0"/>
          </a:p>
        </p:txBody>
      </p:sp>
    </p:spTree>
    <p:extLst>
      <p:ext uri="{BB962C8B-B14F-4D97-AF65-F5344CB8AC3E}">
        <p14:creationId xmlns:p14="http://schemas.microsoft.com/office/powerpoint/2010/main" val="82846794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Summary</a:t>
            </a:r>
            <a:endParaRPr lang="en-US" dirty="0"/>
          </a:p>
        </p:txBody>
      </p:sp>
      <p:sp>
        <p:nvSpPr>
          <p:cNvPr id="3" name="Content Placeholder 2"/>
          <p:cNvSpPr>
            <a:spLocks noGrp="1"/>
          </p:cNvSpPr>
          <p:nvPr>
            <p:ph idx="1"/>
          </p:nvPr>
        </p:nvSpPr>
        <p:spPr/>
        <p:txBody>
          <a:bodyPr/>
          <a:lstStyle/>
          <a:p>
            <a:pPr marL="0" indent="0" algn="just">
              <a:buNone/>
            </a:pPr>
            <a:r>
              <a:rPr lang="en-US" dirty="0"/>
              <a:t>In summary, the ARIMA model is a valuable tool for time series analysis and forecasting, with its key parameters p, d, and q allowing for customization based on the characteristics of the data being analyzed.</a:t>
            </a:r>
            <a:endParaRPr lang="en-US" dirty="0"/>
          </a:p>
        </p:txBody>
      </p:sp>
    </p:spTree>
    <p:extLst>
      <p:ext uri="{BB962C8B-B14F-4D97-AF65-F5344CB8AC3E}">
        <p14:creationId xmlns:p14="http://schemas.microsoft.com/office/powerpoint/2010/main" val="420192958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b="1" dirty="0"/>
              <a:t/>
            </a:r>
            <a:br>
              <a:rPr lang="en-US" b="1" dirty="0"/>
            </a:br>
            <a:r>
              <a:rPr lang="en-US" b="1" dirty="0" smtClean="0"/>
              <a:t>2-Convolutional </a:t>
            </a:r>
            <a:r>
              <a:rPr lang="en-US" b="1" dirty="0"/>
              <a:t>Neural Network (CNN</a:t>
            </a:r>
            <a:r>
              <a:rPr lang="en-US" b="1" dirty="0" smtClean="0"/>
              <a:t>)</a:t>
            </a:r>
            <a:endParaRPr lang="en-US" dirty="0"/>
          </a:p>
        </p:txBody>
      </p:sp>
    </p:spTree>
    <p:extLst>
      <p:ext uri="{BB962C8B-B14F-4D97-AF65-F5344CB8AC3E}">
        <p14:creationId xmlns:p14="http://schemas.microsoft.com/office/powerpoint/2010/main" val="376260733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smtClean="0"/>
              <a:t>Convolutional </a:t>
            </a:r>
            <a:r>
              <a:rPr lang="en-US" b="1" dirty="0"/>
              <a:t>Neural Network (CNN):</a:t>
            </a:r>
            <a:endParaRPr lang="en-US" dirty="0"/>
          </a:p>
        </p:txBody>
      </p:sp>
      <p:sp>
        <p:nvSpPr>
          <p:cNvPr id="5" name="Content Placeholder 4"/>
          <p:cNvSpPr>
            <a:spLocks noGrp="1"/>
          </p:cNvSpPr>
          <p:nvPr>
            <p:ph idx="1"/>
          </p:nvPr>
        </p:nvSpPr>
        <p:spPr/>
        <p:txBody>
          <a:bodyPr/>
          <a:lstStyle/>
          <a:p>
            <a:pPr algn="just"/>
            <a:r>
              <a:rPr lang="en-US" dirty="0"/>
              <a:t>CNNs are versatile tools designed for image analysis but now applied to various data types, including stock market data.</a:t>
            </a:r>
          </a:p>
          <a:p>
            <a:pPr algn="just"/>
            <a:r>
              <a:rPr lang="en-US" dirty="0"/>
              <a:t>They excel at detecting hidden patterns in time-series data, which is valuable for forecasting financial trends.</a:t>
            </a:r>
          </a:p>
          <a:p>
            <a:pPr algn="just"/>
            <a:r>
              <a:rPr lang="en-US" dirty="0"/>
              <a:t>CNNs autonomously learn from messy data and uncover tiny trends over time.</a:t>
            </a:r>
          </a:p>
          <a:p>
            <a:pPr algn="just"/>
            <a:r>
              <a:rPr lang="en-US" dirty="0"/>
              <a:t>They employ unique layers to discover connections between data points and identify important features</a:t>
            </a:r>
            <a:r>
              <a:rPr lang="en-US" dirty="0" smtClean="0"/>
              <a:t>.</a:t>
            </a:r>
            <a:endParaRPr lang="en-US" dirty="0"/>
          </a:p>
        </p:txBody>
      </p:sp>
    </p:spTree>
    <p:extLst>
      <p:ext uri="{BB962C8B-B14F-4D97-AF65-F5344CB8AC3E}">
        <p14:creationId xmlns:p14="http://schemas.microsoft.com/office/powerpoint/2010/main" val="327389590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CNN Layers:</a:t>
            </a:r>
            <a:endParaRPr lang="en-US" dirty="0"/>
          </a:p>
        </p:txBody>
      </p:sp>
      <p:sp>
        <p:nvSpPr>
          <p:cNvPr id="3" name="Content Placeholder 2"/>
          <p:cNvSpPr>
            <a:spLocks noGrp="1"/>
          </p:cNvSpPr>
          <p:nvPr>
            <p:ph idx="1"/>
          </p:nvPr>
        </p:nvSpPr>
        <p:spPr/>
        <p:txBody>
          <a:bodyPr>
            <a:normAutofit/>
          </a:bodyPr>
          <a:lstStyle/>
          <a:p>
            <a:pPr algn="just"/>
            <a:r>
              <a:rPr lang="en-US" b="1" dirty="0"/>
              <a:t>Convolutional </a:t>
            </a:r>
            <a:r>
              <a:rPr lang="en-US" b="1" dirty="0" smtClean="0"/>
              <a:t>Layer:</a:t>
            </a:r>
            <a:endParaRPr lang="en-US" dirty="0"/>
          </a:p>
          <a:p>
            <a:pPr lvl="1" algn="just"/>
            <a:r>
              <a:rPr lang="en-US" dirty="0"/>
              <a:t>Responsible for scanning input data and identifying crucial features.</a:t>
            </a:r>
          </a:p>
          <a:p>
            <a:pPr lvl="1" algn="just"/>
            <a:r>
              <a:rPr lang="en-US" dirty="0"/>
              <a:t>Performs convolution operations to highlight important aspects in the data.</a:t>
            </a:r>
          </a:p>
          <a:p>
            <a:pPr lvl="1" algn="just"/>
            <a:r>
              <a:rPr lang="en-US" dirty="0"/>
              <a:t>Uses a filter (kernel), bias, and activation function to generate output feature maps.</a:t>
            </a:r>
          </a:p>
          <a:p>
            <a:pPr algn="just"/>
            <a:r>
              <a:rPr lang="en-US" b="1" dirty="0"/>
              <a:t>Pooling </a:t>
            </a:r>
            <a:r>
              <a:rPr lang="en-US" b="1" dirty="0" smtClean="0"/>
              <a:t>Layer:</a:t>
            </a:r>
            <a:endParaRPr lang="en-US" dirty="0"/>
          </a:p>
          <a:p>
            <a:pPr lvl="1" algn="just"/>
            <a:r>
              <a:rPr lang="en-US" dirty="0"/>
              <a:t>Summarizes and condenses information from previous layers.</a:t>
            </a:r>
          </a:p>
          <a:p>
            <a:pPr lvl="1" algn="just"/>
            <a:r>
              <a:rPr lang="en-US" dirty="0"/>
              <a:t>Helps understand main trends and patterns by applying pooling functions to a window of values in feature maps.</a:t>
            </a:r>
          </a:p>
          <a:p>
            <a:pPr algn="just"/>
            <a:r>
              <a:rPr lang="en-US" b="1" dirty="0"/>
              <a:t>Fully Connected </a:t>
            </a:r>
            <a:r>
              <a:rPr lang="en-US" b="1" dirty="0" smtClean="0"/>
              <a:t>Layer:</a:t>
            </a:r>
          </a:p>
          <a:p>
            <a:pPr lvl="1" algn="just"/>
            <a:r>
              <a:rPr lang="en-US" dirty="0" smtClean="0"/>
              <a:t>Connects </a:t>
            </a:r>
            <a:r>
              <a:rPr lang="en-US" dirty="0"/>
              <a:t>information gathered from previous layers.</a:t>
            </a:r>
          </a:p>
          <a:p>
            <a:pPr lvl="1" algn="just"/>
            <a:r>
              <a:rPr lang="en-US" dirty="0"/>
              <a:t>Combines puzzle pieces to create a complete picture.</a:t>
            </a:r>
          </a:p>
          <a:p>
            <a:pPr lvl="1" algn="just"/>
            <a:r>
              <a:rPr lang="en-US" dirty="0"/>
              <a:t>Involves a weight matrix, bias, and activation function to generate the output.</a:t>
            </a:r>
          </a:p>
          <a:p>
            <a:endParaRPr lang="en-US" dirty="0"/>
          </a:p>
        </p:txBody>
      </p:sp>
    </p:spTree>
    <p:extLst>
      <p:ext uri="{BB962C8B-B14F-4D97-AF65-F5344CB8AC3E}">
        <p14:creationId xmlns:p14="http://schemas.microsoft.com/office/powerpoint/2010/main" val="6482963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Summary</a:t>
            </a:r>
            <a:endParaRPr lang="en-US" dirty="0"/>
          </a:p>
        </p:txBody>
      </p:sp>
      <p:sp>
        <p:nvSpPr>
          <p:cNvPr id="3" name="Content Placeholder 2"/>
          <p:cNvSpPr>
            <a:spLocks noGrp="1"/>
          </p:cNvSpPr>
          <p:nvPr>
            <p:ph idx="1"/>
          </p:nvPr>
        </p:nvSpPr>
        <p:spPr/>
        <p:txBody>
          <a:bodyPr/>
          <a:lstStyle/>
          <a:p>
            <a:pPr marL="0" indent="0" algn="just">
              <a:buNone/>
            </a:pPr>
            <a:r>
              <a:rPr lang="en-US" dirty="0"/>
              <a:t>In summary, CNNs are powerful tools for analyzing and forecasting stock market patterns. They consist of convolutional, pooling, and fully connected layers, each with a specific role in processing data and identifying important features for prediction.</a:t>
            </a:r>
            <a:endParaRPr lang="en-US" dirty="0"/>
          </a:p>
        </p:txBody>
      </p:sp>
    </p:spTree>
    <p:extLst>
      <p:ext uri="{BB962C8B-B14F-4D97-AF65-F5344CB8AC3E}">
        <p14:creationId xmlns:p14="http://schemas.microsoft.com/office/powerpoint/2010/main" val="286912181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smtClean="0"/>
              <a:t>3-Recurrent </a:t>
            </a:r>
            <a:r>
              <a:rPr lang="en-US" b="1" dirty="0"/>
              <a:t>Neural Network (RNN</a:t>
            </a:r>
            <a:r>
              <a:rPr lang="en-US" b="1" dirty="0" smtClean="0"/>
              <a:t>)</a:t>
            </a:r>
            <a:endParaRPr lang="en-US" dirty="0"/>
          </a:p>
        </p:txBody>
      </p:sp>
    </p:spTree>
    <p:extLst>
      <p:ext uri="{BB962C8B-B14F-4D97-AF65-F5344CB8AC3E}">
        <p14:creationId xmlns:p14="http://schemas.microsoft.com/office/powerpoint/2010/main" val="203916300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Recurrent Neural Network (RNN</a:t>
            </a:r>
            <a:r>
              <a:rPr lang="en-US" b="1" dirty="0" smtClean="0"/>
              <a:t>):</a:t>
            </a:r>
            <a:endParaRPr lang="en-US" dirty="0"/>
          </a:p>
        </p:txBody>
      </p:sp>
      <p:sp>
        <p:nvSpPr>
          <p:cNvPr id="3" name="Content Placeholder 2"/>
          <p:cNvSpPr>
            <a:spLocks noGrp="1"/>
          </p:cNvSpPr>
          <p:nvPr>
            <p:ph idx="1"/>
          </p:nvPr>
        </p:nvSpPr>
        <p:spPr/>
        <p:txBody>
          <a:bodyPr/>
          <a:lstStyle/>
          <a:p>
            <a:pPr algn="just"/>
            <a:r>
              <a:rPr lang="en-US" dirty="0"/>
              <a:t>RNN operates by looping back to the input after storing the output from a particular layer.</a:t>
            </a:r>
          </a:p>
          <a:p>
            <a:pPr algn="just"/>
            <a:r>
              <a:rPr lang="en-US" dirty="0"/>
              <a:t>This looping process allows the model to predict the subsequent output from that layer.</a:t>
            </a:r>
          </a:p>
          <a:p>
            <a:pPr algn="just"/>
            <a:r>
              <a:rPr lang="en-US" dirty="0"/>
              <a:t>RNNs are characterized by their hidden state, often called the Memory State, which stores important details about earlier sequences.</a:t>
            </a:r>
          </a:p>
          <a:p>
            <a:pPr algn="just"/>
            <a:r>
              <a:rPr lang="en-US" dirty="0"/>
              <a:t>They use uniform parameters across all inputs, reducing parameter complexity compared to other neural networks</a:t>
            </a:r>
            <a:r>
              <a:rPr lang="en-US" dirty="0" smtClean="0"/>
              <a:t>.</a:t>
            </a:r>
            <a:endParaRPr lang="en-US" dirty="0"/>
          </a:p>
        </p:txBody>
      </p:sp>
    </p:spTree>
    <p:extLst>
      <p:ext uri="{BB962C8B-B14F-4D97-AF65-F5344CB8AC3E}">
        <p14:creationId xmlns:p14="http://schemas.microsoft.com/office/powerpoint/2010/main" val="123091146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RNN</a:t>
            </a:r>
            <a:endParaRPr lang="en-US" dirty="0"/>
          </a:p>
        </p:txBody>
      </p:sp>
      <p:sp>
        <p:nvSpPr>
          <p:cNvPr id="3" name="Content Placeholder 2"/>
          <p:cNvSpPr>
            <a:spLocks noGrp="1"/>
          </p:cNvSpPr>
          <p:nvPr>
            <p:ph idx="1"/>
          </p:nvPr>
        </p:nvSpPr>
        <p:spPr/>
        <p:txBody>
          <a:bodyPr/>
          <a:lstStyle/>
          <a:p>
            <a:pPr algn="just"/>
            <a:r>
              <a:rPr lang="en-US" b="1" dirty="0"/>
              <a:t>RNN Process:</a:t>
            </a:r>
            <a:endParaRPr lang="en-US" dirty="0"/>
          </a:p>
          <a:p>
            <a:pPr lvl="1" algn="just"/>
            <a:r>
              <a:rPr lang="en-US" dirty="0"/>
              <a:t>RNN's current state (h(t)) is determined based on the previous state (h(t−1)) and the input state (x(t)).</a:t>
            </a:r>
          </a:p>
          <a:p>
            <a:pPr lvl="1" algn="just"/>
            <a:r>
              <a:rPr lang="en-US" dirty="0"/>
              <a:t>The function f represents the operations performed on these inputs and hidden layers to generate outputs.</a:t>
            </a:r>
          </a:p>
          <a:p>
            <a:pPr algn="just"/>
            <a:r>
              <a:rPr lang="en-US" b="1" dirty="0"/>
              <a:t>Challenges of RNN:</a:t>
            </a:r>
            <a:endParaRPr lang="en-US" dirty="0"/>
          </a:p>
          <a:p>
            <a:pPr lvl="1" algn="just"/>
            <a:r>
              <a:rPr lang="en-US" dirty="0"/>
              <a:t>RNNs are suitable for managing sequential data but have limitations.</a:t>
            </a:r>
          </a:p>
          <a:p>
            <a:pPr lvl="1" algn="just"/>
            <a:r>
              <a:rPr lang="en-US" dirty="0"/>
              <a:t>They struggle with learning and retaining long-range dependencies in sequences due to vanishing and exploding gradient problems</a:t>
            </a:r>
            <a:r>
              <a:rPr lang="en-US" dirty="0" smtClean="0"/>
              <a:t>.</a:t>
            </a:r>
            <a:endParaRPr lang="en-US" dirty="0"/>
          </a:p>
        </p:txBody>
      </p:sp>
    </p:spTree>
    <p:extLst>
      <p:ext uri="{BB962C8B-B14F-4D97-AF65-F5344CB8AC3E}">
        <p14:creationId xmlns:p14="http://schemas.microsoft.com/office/powerpoint/2010/main" val="218547871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Summary</a:t>
            </a:r>
            <a:endParaRPr lang="en-US" dirty="0"/>
          </a:p>
        </p:txBody>
      </p:sp>
      <p:sp>
        <p:nvSpPr>
          <p:cNvPr id="3" name="Content Placeholder 2"/>
          <p:cNvSpPr>
            <a:spLocks noGrp="1"/>
          </p:cNvSpPr>
          <p:nvPr>
            <p:ph idx="1"/>
          </p:nvPr>
        </p:nvSpPr>
        <p:spPr/>
        <p:txBody>
          <a:bodyPr/>
          <a:lstStyle/>
          <a:p>
            <a:pPr marL="0" indent="0" algn="just">
              <a:buNone/>
            </a:pPr>
            <a:r>
              <a:rPr lang="en-US" dirty="0"/>
              <a:t>In summary, RNNs are designed to work with sequential data by looping back and using a hidden state to store important information about earlier sequences. However, they face challenges in handling long-range dependencies.</a:t>
            </a:r>
            <a:endParaRPr lang="en-US" dirty="0"/>
          </a:p>
        </p:txBody>
      </p:sp>
    </p:spTree>
    <p:extLst>
      <p:ext uri="{BB962C8B-B14F-4D97-AF65-F5344CB8AC3E}">
        <p14:creationId xmlns:p14="http://schemas.microsoft.com/office/powerpoint/2010/main" val="171622514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4-</a:t>
            </a:r>
            <a:r>
              <a:rPr lang="en-US" b="1" dirty="0" smtClean="0"/>
              <a:t>PROPHET</a:t>
            </a:r>
            <a:endParaRPr lang="en-US" dirty="0"/>
          </a:p>
        </p:txBody>
      </p:sp>
    </p:spTree>
    <p:extLst>
      <p:ext uri="{BB962C8B-B14F-4D97-AF65-F5344CB8AC3E}">
        <p14:creationId xmlns:p14="http://schemas.microsoft.com/office/powerpoint/2010/main" val="377873085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t>PROPHET:</a:t>
            </a:r>
            <a:endParaRPr lang="en-US" dirty="0"/>
          </a:p>
        </p:txBody>
      </p:sp>
      <p:sp>
        <p:nvSpPr>
          <p:cNvPr id="5" name="Content Placeholder 4"/>
          <p:cNvSpPr>
            <a:spLocks noGrp="1"/>
          </p:cNvSpPr>
          <p:nvPr>
            <p:ph idx="1"/>
          </p:nvPr>
        </p:nvSpPr>
        <p:spPr/>
        <p:txBody>
          <a:bodyPr/>
          <a:lstStyle/>
          <a:p>
            <a:pPr algn="just"/>
            <a:r>
              <a:rPr lang="en-US" dirty="0"/>
              <a:t>PROPHET is an additive model used for time series forecasting.</a:t>
            </a:r>
          </a:p>
          <a:p>
            <a:pPr algn="just"/>
            <a:r>
              <a:rPr lang="en-US" dirty="0"/>
              <a:t>It decomposes time series data into components like trend, seasonality, holiday impacts, and unexpected changes.</a:t>
            </a:r>
          </a:p>
          <a:p>
            <a:pPr algn="just"/>
            <a:r>
              <a:rPr lang="en-US" dirty="0"/>
              <a:t>Known for its simplicity and ease of use, PROPHET can capture diverse patterns in data without extensive </a:t>
            </a:r>
            <a:r>
              <a:rPr lang="en-US" dirty="0" smtClean="0"/>
              <a:t>hyper parameter </a:t>
            </a:r>
            <a:r>
              <a:rPr lang="en-US" dirty="0"/>
              <a:t>tuning.</a:t>
            </a:r>
          </a:p>
          <a:p>
            <a:pPr algn="just"/>
            <a:r>
              <a:rPr lang="en-US" dirty="0"/>
              <a:t>It's particularly useful for creating short- to medium-term forecasts for time series data.</a:t>
            </a:r>
          </a:p>
          <a:p>
            <a:pPr algn="just"/>
            <a:r>
              <a:rPr lang="en-US" dirty="0"/>
              <a:t>Developed by Facebook's Core Data Science team, PROPHET is widely used in time series analysis and forecasting</a:t>
            </a:r>
            <a:r>
              <a:rPr lang="en-US" dirty="0" smtClean="0"/>
              <a:t>.</a:t>
            </a:r>
            <a:endParaRPr lang="en-US" dirty="0"/>
          </a:p>
        </p:txBody>
      </p:sp>
    </p:spTree>
    <p:extLst>
      <p:ext uri="{BB962C8B-B14F-4D97-AF65-F5344CB8AC3E}">
        <p14:creationId xmlns:p14="http://schemas.microsoft.com/office/powerpoint/2010/main" val="74443945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Prophet:</a:t>
            </a:r>
            <a:endParaRPr lang="en-US" dirty="0"/>
          </a:p>
        </p:txBody>
      </p:sp>
      <p:sp>
        <p:nvSpPr>
          <p:cNvPr id="3" name="Content Placeholder 2"/>
          <p:cNvSpPr>
            <a:spLocks noGrp="1"/>
          </p:cNvSpPr>
          <p:nvPr>
            <p:ph idx="1"/>
          </p:nvPr>
        </p:nvSpPr>
        <p:spPr/>
        <p:txBody>
          <a:bodyPr>
            <a:normAutofit/>
          </a:bodyPr>
          <a:lstStyle/>
          <a:p>
            <a:pPr algn="just"/>
            <a:r>
              <a:rPr lang="en-US" b="1" dirty="0"/>
              <a:t>PROPHET Process:</a:t>
            </a:r>
            <a:endParaRPr lang="en-US" dirty="0"/>
          </a:p>
          <a:p>
            <a:pPr lvl="1" algn="just"/>
            <a:r>
              <a:rPr lang="en-US" dirty="0"/>
              <a:t>The PROPHET model is represented by the equation: y(t) = g(t) + s(t) + h(t) + e(t)</a:t>
            </a:r>
          </a:p>
          <a:p>
            <a:pPr lvl="1" algn="just"/>
            <a:r>
              <a:rPr lang="en-US" dirty="0"/>
              <a:t>Components:</a:t>
            </a:r>
          </a:p>
          <a:p>
            <a:pPr lvl="2" algn="just"/>
            <a:r>
              <a:rPr lang="en-US" dirty="0"/>
              <a:t>g(t) represents non-periodic trend changes.</a:t>
            </a:r>
          </a:p>
          <a:p>
            <a:pPr lvl="2" algn="just"/>
            <a:r>
              <a:rPr lang="en-US" dirty="0"/>
              <a:t>s(t) captures periodic seasonality changes.</a:t>
            </a:r>
          </a:p>
          <a:p>
            <a:pPr lvl="2" algn="just"/>
            <a:r>
              <a:rPr lang="en-US" dirty="0"/>
              <a:t>h(t) accounts for holiday effects.</a:t>
            </a:r>
          </a:p>
          <a:p>
            <a:pPr lvl="2" algn="just"/>
            <a:r>
              <a:rPr lang="en-US" dirty="0"/>
              <a:t>e(t) covers unexpected changes that the model does not account for.</a:t>
            </a:r>
          </a:p>
          <a:p>
            <a:pPr algn="just"/>
            <a:r>
              <a:rPr lang="en-US" b="1" dirty="0"/>
              <a:t>PROPHET's Importance:</a:t>
            </a:r>
            <a:endParaRPr lang="en-US" dirty="0"/>
          </a:p>
          <a:p>
            <a:pPr lvl="1" algn="just"/>
            <a:r>
              <a:rPr lang="en-US" dirty="0"/>
              <a:t>PROPHET may lack the complexity of deep learning models but remains a valuable tool for data analysts and forecasters.</a:t>
            </a:r>
          </a:p>
          <a:p>
            <a:pPr lvl="1" algn="just"/>
            <a:r>
              <a:rPr lang="en-US" dirty="0"/>
              <a:t>It is particularly effective for handling time series data with strong patterns and repeating events</a:t>
            </a:r>
            <a:r>
              <a:rPr lang="en-US" dirty="0" smtClean="0"/>
              <a:t>.</a:t>
            </a:r>
            <a:endParaRPr lang="en-US" dirty="0"/>
          </a:p>
        </p:txBody>
      </p:sp>
    </p:spTree>
    <p:extLst>
      <p:ext uri="{BB962C8B-B14F-4D97-AF65-F5344CB8AC3E}">
        <p14:creationId xmlns:p14="http://schemas.microsoft.com/office/powerpoint/2010/main" val="393615402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summary</a:t>
            </a:r>
            <a:endParaRPr lang="en-US" dirty="0"/>
          </a:p>
        </p:txBody>
      </p:sp>
      <p:sp>
        <p:nvSpPr>
          <p:cNvPr id="3" name="Content Placeholder 2"/>
          <p:cNvSpPr>
            <a:spLocks noGrp="1"/>
          </p:cNvSpPr>
          <p:nvPr>
            <p:ph idx="1"/>
          </p:nvPr>
        </p:nvSpPr>
        <p:spPr/>
        <p:txBody>
          <a:bodyPr/>
          <a:lstStyle/>
          <a:p>
            <a:pPr marL="0" indent="0" algn="just">
              <a:buNone/>
            </a:pPr>
            <a:r>
              <a:rPr lang="en-US" dirty="0"/>
              <a:t>In summary, PROPHET is a widely used forecasting tool known for its simplicity and effectiveness in capturing various patterns in time series data. It decomposes data into key components, making it a valuable asset for data analysts and forecasters dealing with specific types of time series data.</a:t>
            </a:r>
            <a:endParaRPr lang="en-US" dirty="0"/>
          </a:p>
        </p:txBody>
      </p:sp>
    </p:spTree>
    <p:extLst>
      <p:ext uri="{BB962C8B-B14F-4D97-AF65-F5344CB8AC3E}">
        <p14:creationId xmlns:p14="http://schemas.microsoft.com/office/powerpoint/2010/main" val="121409887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5-</a:t>
            </a:r>
            <a:r>
              <a:rPr lang="en-US" b="1" dirty="0"/>
              <a:t>Long Short-Term Memory (LSTM</a:t>
            </a:r>
            <a:r>
              <a:rPr lang="en-US" b="1" dirty="0" smtClean="0"/>
              <a:t>)</a:t>
            </a:r>
            <a:endParaRPr lang="en-US" dirty="0"/>
          </a:p>
        </p:txBody>
      </p:sp>
    </p:spTree>
    <p:extLst>
      <p:ext uri="{BB962C8B-B14F-4D97-AF65-F5344CB8AC3E}">
        <p14:creationId xmlns:p14="http://schemas.microsoft.com/office/powerpoint/2010/main" val="12270117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Long Short-Term Memory (LSTM):</a:t>
            </a:r>
            <a:endParaRPr lang="en-US" dirty="0"/>
          </a:p>
        </p:txBody>
      </p:sp>
      <p:sp>
        <p:nvSpPr>
          <p:cNvPr id="3" name="Content Placeholder 2"/>
          <p:cNvSpPr>
            <a:spLocks noGrp="1"/>
          </p:cNvSpPr>
          <p:nvPr>
            <p:ph idx="1"/>
          </p:nvPr>
        </p:nvSpPr>
        <p:spPr/>
        <p:txBody>
          <a:bodyPr>
            <a:normAutofit lnSpcReduction="10000"/>
          </a:bodyPr>
          <a:lstStyle/>
          <a:p>
            <a:pPr algn="just"/>
            <a:r>
              <a:rPr lang="en-US" dirty="0"/>
              <a:t>LSTM is a type of recurrent neural network (RNN) architecture designed to address the vanishing gradient problem and capture long-term dependencies.</a:t>
            </a:r>
          </a:p>
          <a:p>
            <a:pPr algn="just"/>
            <a:r>
              <a:rPr lang="en-US" dirty="0"/>
              <a:t>It is highly suitable for sequence data, including time series, natural language, and voice.</a:t>
            </a:r>
          </a:p>
          <a:p>
            <a:pPr algn="just"/>
            <a:r>
              <a:rPr lang="en-US" dirty="0"/>
              <a:t>LSTM incorporates three gates (forget gate, input gate, output gate) that control information flow, allowing selective retention or deletion of data at each time step.</a:t>
            </a:r>
          </a:p>
          <a:p>
            <a:pPr algn="just"/>
            <a:r>
              <a:rPr lang="en-US" dirty="0"/>
              <a:t>This gating mechanism balances short-term and long-term memory while effectively handling gradient vanishing issues.</a:t>
            </a:r>
          </a:p>
          <a:p>
            <a:pPr algn="just"/>
            <a:r>
              <a:rPr lang="en-US" dirty="0"/>
              <a:t>LSTMs find applications in various fields, such as natural language processing, time series forecasting, and anomaly detection.</a:t>
            </a:r>
          </a:p>
          <a:p>
            <a:pPr algn="just"/>
            <a:r>
              <a:rPr lang="en-US" dirty="0"/>
              <a:t>Despite their capabilities, LSTMs require careful </a:t>
            </a:r>
            <a:r>
              <a:rPr lang="en-US" dirty="0" err="1"/>
              <a:t>hyperparameter</a:t>
            </a:r>
            <a:r>
              <a:rPr lang="en-US" dirty="0"/>
              <a:t> tuning and may face challenges with extremely long sequences or complex patterns.</a:t>
            </a:r>
          </a:p>
        </p:txBody>
      </p:sp>
    </p:spTree>
    <p:extLst>
      <p:ext uri="{BB962C8B-B14F-4D97-AF65-F5344CB8AC3E}">
        <p14:creationId xmlns:p14="http://schemas.microsoft.com/office/powerpoint/2010/main" val="371451358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Lstm</a:t>
            </a:r>
            <a:r>
              <a:rPr lang="en-US" dirty="0" smtClean="0"/>
              <a:t>:</a:t>
            </a:r>
            <a:endParaRPr lang="en-US" dirty="0"/>
          </a:p>
        </p:txBody>
      </p:sp>
      <p:sp>
        <p:nvSpPr>
          <p:cNvPr id="3" name="Content Placeholder 2"/>
          <p:cNvSpPr>
            <a:spLocks noGrp="1"/>
          </p:cNvSpPr>
          <p:nvPr>
            <p:ph idx="1"/>
          </p:nvPr>
        </p:nvSpPr>
        <p:spPr/>
        <p:txBody>
          <a:bodyPr>
            <a:normAutofit/>
          </a:bodyPr>
          <a:lstStyle/>
          <a:p>
            <a:pPr algn="just"/>
            <a:r>
              <a:rPr lang="en-US" b="1" dirty="0"/>
              <a:t>LSTM Formula:</a:t>
            </a:r>
            <a:endParaRPr lang="en-US" dirty="0"/>
          </a:p>
          <a:p>
            <a:pPr lvl="1" algn="just"/>
            <a:r>
              <a:rPr lang="en-US" dirty="0"/>
              <a:t>The LSTM formula involves gates represented by symbols like it (input gate), </a:t>
            </a:r>
            <a:r>
              <a:rPr lang="en-US" dirty="0" err="1"/>
              <a:t>ft</a:t>
            </a:r>
            <a:r>
              <a:rPr lang="en-US" dirty="0"/>
              <a:t> (forget gate), </a:t>
            </a:r>
            <a:r>
              <a:rPr lang="en-US" dirty="0" err="1"/>
              <a:t>ot</a:t>
            </a:r>
            <a:r>
              <a:rPr lang="en-US" dirty="0"/>
              <a:t> (output gate), sigmoid functions (σ), weights (</a:t>
            </a:r>
            <a:r>
              <a:rPr lang="en-US" dirty="0" err="1"/>
              <a:t>wx</a:t>
            </a:r>
            <a:r>
              <a:rPr lang="en-US" dirty="0"/>
              <a:t>), previous LSTM block output (ht−1), current input (</a:t>
            </a:r>
            <a:r>
              <a:rPr lang="en-US" dirty="0" err="1"/>
              <a:t>xt</a:t>
            </a:r>
            <a:r>
              <a:rPr lang="en-US" dirty="0"/>
              <a:t>), and biases (</a:t>
            </a:r>
            <a:r>
              <a:rPr lang="en-US" dirty="0" err="1"/>
              <a:t>bx</a:t>
            </a:r>
            <a:r>
              <a:rPr lang="en-US" dirty="0"/>
              <a:t>).</a:t>
            </a:r>
          </a:p>
          <a:p>
            <a:pPr algn="just"/>
            <a:r>
              <a:rPr lang="en-US" b="1" dirty="0"/>
              <a:t>Implementation and Tools:</a:t>
            </a:r>
            <a:endParaRPr lang="en-US" dirty="0"/>
          </a:p>
          <a:p>
            <a:pPr lvl="1" algn="just"/>
            <a:r>
              <a:rPr lang="en-US" dirty="0"/>
              <a:t>For stock price prediction, the Yahoo Finance dataset, specifically Apple Company's financial data, was used.</a:t>
            </a:r>
          </a:p>
          <a:p>
            <a:pPr lvl="1" algn="just"/>
            <a:r>
              <a:rPr lang="en-US" dirty="0"/>
              <a:t>The dataset contains a wide range of financial variables, including opening and closing prices, daily high and low prices, and trading volume.</a:t>
            </a:r>
          </a:p>
          <a:p>
            <a:pPr lvl="1" algn="just"/>
            <a:r>
              <a:rPr lang="en-US" dirty="0" err="1"/>
              <a:t>TensorFlow</a:t>
            </a:r>
            <a:r>
              <a:rPr lang="en-US" dirty="0"/>
              <a:t>, an open-source machine learning framework known for its numerical computation capabilities, was used.</a:t>
            </a:r>
          </a:p>
          <a:p>
            <a:pPr lvl="1" algn="just"/>
            <a:r>
              <a:rPr lang="en-US" dirty="0" err="1"/>
              <a:t>Keras</a:t>
            </a:r>
            <a:r>
              <a:rPr lang="en-US" dirty="0"/>
              <a:t>, a high-level API for neural networks, smoothly integrates with </a:t>
            </a:r>
            <a:r>
              <a:rPr lang="en-US" dirty="0" err="1"/>
              <a:t>TensorFlow</a:t>
            </a:r>
            <a:r>
              <a:rPr lang="en-US" dirty="0"/>
              <a:t> for efficient experimentation.</a:t>
            </a:r>
          </a:p>
        </p:txBody>
      </p:sp>
    </p:spTree>
    <p:extLst>
      <p:ext uri="{BB962C8B-B14F-4D97-AF65-F5344CB8AC3E}">
        <p14:creationId xmlns:p14="http://schemas.microsoft.com/office/powerpoint/2010/main" val="396212756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Summary</a:t>
            </a:r>
            <a:endParaRPr lang="en-US" dirty="0"/>
          </a:p>
        </p:txBody>
      </p:sp>
      <p:sp>
        <p:nvSpPr>
          <p:cNvPr id="3" name="Content Placeholder 2"/>
          <p:cNvSpPr>
            <a:spLocks noGrp="1"/>
          </p:cNvSpPr>
          <p:nvPr>
            <p:ph idx="1"/>
          </p:nvPr>
        </p:nvSpPr>
        <p:spPr/>
        <p:txBody>
          <a:bodyPr/>
          <a:lstStyle/>
          <a:p>
            <a:pPr marL="0" indent="0" algn="just">
              <a:buNone/>
            </a:pPr>
            <a:r>
              <a:rPr lang="en-US" dirty="0"/>
              <a:t>In summary, LSTM is a powerful architecture for handling sequential data, addressing challenges like vanishing gradients and capturing long-term dependencies. It has practical applications in various domains, and in this case, it was implemented using </a:t>
            </a:r>
            <a:r>
              <a:rPr lang="en-US" dirty="0" err="1"/>
              <a:t>TensorFlow</a:t>
            </a:r>
            <a:r>
              <a:rPr lang="en-US" dirty="0"/>
              <a:t> and </a:t>
            </a:r>
            <a:r>
              <a:rPr lang="en-US" dirty="0" err="1"/>
              <a:t>Keras</a:t>
            </a:r>
            <a:r>
              <a:rPr lang="en-US" dirty="0"/>
              <a:t> for stock price prediction using the Yahoo Finance dataset.</a:t>
            </a:r>
            <a:endParaRPr lang="en-US" dirty="0"/>
          </a:p>
        </p:txBody>
      </p:sp>
    </p:spTree>
    <p:extLst>
      <p:ext uri="{BB962C8B-B14F-4D97-AF65-F5344CB8AC3E}">
        <p14:creationId xmlns:p14="http://schemas.microsoft.com/office/powerpoint/2010/main" val="43441124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Experimental Results and analysis</a:t>
            </a:r>
            <a:endParaRPr lang="en-US" dirty="0"/>
          </a:p>
        </p:txBody>
      </p:sp>
    </p:spTree>
    <p:extLst>
      <p:ext uri="{BB962C8B-B14F-4D97-AF65-F5344CB8AC3E}">
        <p14:creationId xmlns:p14="http://schemas.microsoft.com/office/powerpoint/2010/main" val="396789053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Mean Squared Error (MSE):</a:t>
            </a:r>
            <a:endParaRPr lang="en-US" dirty="0"/>
          </a:p>
        </p:txBody>
      </p:sp>
      <p:sp>
        <p:nvSpPr>
          <p:cNvPr id="3" name="Content Placeholder 2"/>
          <p:cNvSpPr>
            <a:spLocks noGrp="1"/>
          </p:cNvSpPr>
          <p:nvPr>
            <p:ph idx="1"/>
          </p:nvPr>
        </p:nvSpPr>
        <p:spPr/>
        <p:txBody>
          <a:bodyPr/>
          <a:lstStyle/>
          <a:p>
            <a:pPr algn="just"/>
            <a:r>
              <a:rPr lang="en-US" dirty="0"/>
              <a:t>MSE is a measurement that quantifies the average of squared differences between predicted and actual values within a dataset.</a:t>
            </a:r>
          </a:p>
          <a:p>
            <a:pPr algn="just"/>
            <a:r>
              <a:rPr lang="en-US" dirty="0"/>
              <a:t>A lower MSE indicates that a model's predictions align better with the dataset.</a:t>
            </a:r>
          </a:p>
          <a:p>
            <a:pPr algn="just"/>
            <a:r>
              <a:rPr lang="en-US" dirty="0"/>
              <a:t>MSE is commonly used as a loss function in regression tasks.</a:t>
            </a:r>
          </a:p>
          <a:p>
            <a:pPr marL="0" indent="0" algn="just">
              <a:buNone/>
            </a:pPr>
            <a:r>
              <a:rPr lang="en-US" b="1" dirty="0"/>
              <a:t>MSE </a:t>
            </a:r>
            <a:r>
              <a:rPr lang="en-US" b="1" dirty="0" smtClean="0"/>
              <a:t>Formula:</a:t>
            </a:r>
            <a:endParaRPr lang="en-US" dirty="0"/>
          </a:p>
          <a:p>
            <a:pPr algn="just"/>
            <a:r>
              <a:rPr lang="en-US" dirty="0" smtClean="0"/>
              <a:t>The </a:t>
            </a:r>
            <a:r>
              <a:rPr lang="en-US" dirty="0"/>
              <a:t>MSE formula calculates the squared differences between predicted (</a:t>
            </a:r>
            <a:r>
              <a:rPr lang="en-US" dirty="0" err="1"/>
              <a:t>ŷi</a:t>
            </a:r>
            <a:r>
              <a:rPr lang="en-US" dirty="0"/>
              <a:t>) and observed (</a:t>
            </a:r>
            <a:r>
              <a:rPr lang="en-US" dirty="0" err="1"/>
              <a:t>yi</a:t>
            </a:r>
            <a:r>
              <a:rPr lang="en-US" dirty="0"/>
              <a:t>) values for each observation and then computes their average over the sample size (n</a:t>
            </a:r>
            <a:r>
              <a:rPr lang="en-US" dirty="0" smtClean="0"/>
              <a:t>).</a:t>
            </a:r>
            <a:endParaRPr lang="en-US" dirty="0"/>
          </a:p>
        </p:txBody>
      </p:sp>
    </p:spTree>
    <p:extLst>
      <p:ext uri="{BB962C8B-B14F-4D97-AF65-F5344CB8AC3E}">
        <p14:creationId xmlns:p14="http://schemas.microsoft.com/office/powerpoint/2010/main" val="46568206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Results </a:t>
            </a:r>
            <a:r>
              <a:rPr lang="en-US" dirty="0" err="1" smtClean="0"/>
              <a:t>mse</a:t>
            </a:r>
            <a:r>
              <a:rPr lang="en-US" dirty="0" smtClean="0"/>
              <a:t>:</a:t>
            </a:r>
            <a:endParaRPr lang="en-US" dirty="0"/>
          </a:p>
        </p:txBody>
      </p:sp>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82039" y="2120900"/>
            <a:ext cx="8834272" cy="4051300"/>
          </a:xfrm>
        </p:spPr>
      </p:pic>
    </p:spTree>
    <p:extLst>
      <p:ext uri="{BB962C8B-B14F-4D97-AF65-F5344CB8AC3E}">
        <p14:creationId xmlns:p14="http://schemas.microsoft.com/office/powerpoint/2010/main" val="406546149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Root Mean Squared Error (RMSE):</a:t>
            </a:r>
            <a:endParaRPr lang="en-US" dirty="0"/>
          </a:p>
        </p:txBody>
      </p:sp>
      <p:sp>
        <p:nvSpPr>
          <p:cNvPr id="3" name="Content Placeholder 2"/>
          <p:cNvSpPr>
            <a:spLocks noGrp="1"/>
          </p:cNvSpPr>
          <p:nvPr>
            <p:ph idx="1"/>
          </p:nvPr>
        </p:nvSpPr>
        <p:spPr/>
        <p:txBody>
          <a:bodyPr/>
          <a:lstStyle/>
          <a:p>
            <a:pPr algn="just"/>
            <a:r>
              <a:rPr lang="en-US" dirty="0"/>
              <a:t>RMSE is a measurement that provides the square root of the mean squared difference between predicted and actual values within a dataset.</a:t>
            </a:r>
          </a:p>
          <a:p>
            <a:pPr algn="just"/>
            <a:r>
              <a:rPr lang="en-US" dirty="0"/>
              <a:t>A lower RMSE signifies that a model's predictions are more closely aligned with the dataset.</a:t>
            </a:r>
          </a:p>
          <a:p>
            <a:pPr algn="just"/>
            <a:r>
              <a:rPr lang="en-US" dirty="0"/>
              <a:t>RMSE is a useful metric for assessing the accuracy of predictions, and it has the same units as the original data.</a:t>
            </a:r>
          </a:p>
          <a:p>
            <a:pPr marL="0" indent="0" algn="just">
              <a:buNone/>
            </a:pPr>
            <a:r>
              <a:rPr lang="en-US" b="1" dirty="0"/>
              <a:t>RMSE Formula:</a:t>
            </a:r>
            <a:endParaRPr lang="en-US" dirty="0"/>
          </a:p>
          <a:p>
            <a:pPr algn="just"/>
            <a:r>
              <a:rPr lang="en-US" dirty="0"/>
              <a:t>The RMSE formula calculates the square root of the mean squared differences between predicted (</a:t>
            </a:r>
            <a:r>
              <a:rPr lang="en-US" dirty="0" err="1"/>
              <a:t>ŷi</a:t>
            </a:r>
            <a:r>
              <a:rPr lang="en-US" dirty="0"/>
              <a:t>) and observed (</a:t>
            </a:r>
            <a:r>
              <a:rPr lang="en-US" dirty="0" err="1"/>
              <a:t>yi</a:t>
            </a:r>
            <a:r>
              <a:rPr lang="en-US" dirty="0"/>
              <a:t>) values for each observation, averaged over the sample size (n</a:t>
            </a:r>
            <a:r>
              <a:rPr lang="en-US" dirty="0" smtClean="0"/>
              <a:t>).</a:t>
            </a:r>
            <a:endParaRPr lang="en-US" dirty="0"/>
          </a:p>
        </p:txBody>
      </p:sp>
    </p:spTree>
    <p:extLst>
      <p:ext uri="{BB962C8B-B14F-4D97-AF65-F5344CB8AC3E}">
        <p14:creationId xmlns:p14="http://schemas.microsoft.com/office/powerpoint/2010/main" val="231563175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975" y="513881"/>
            <a:ext cx="10058400" cy="1609344"/>
          </a:xfrm>
        </p:spPr>
        <p:txBody>
          <a:bodyPr/>
          <a:lstStyle/>
          <a:p>
            <a:r>
              <a:rPr lang="en-US" dirty="0" smtClean="0"/>
              <a:t>Results </a:t>
            </a:r>
            <a:r>
              <a:rPr lang="en-US" dirty="0" err="1" smtClean="0"/>
              <a:t>rmse</a:t>
            </a:r>
            <a:r>
              <a:rPr lang="en-US" dirty="0"/>
              <a:t>:</a:t>
            </a:r>
          </a:p>
        </p:txBody>
      </p:sp>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39390" y="2120900"/>
            <a:ext cx="8719570" cy="4051300"/>
          </a:xfrm>
        </p:spPr>
      </p:pic>
    </p:spTree>
    <p:extLst>
      <p:ext uri="{BB962C8B-B14F-4D97-AF65-F5344CB8AC3E}">
        <p14:creationId xmlns:p14="http://schemas.microsoft.com/office/powerpoint/2010/main" val="402756077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Summary</a:t>
            </a:r>
            <a:endParaRPr lang="en-US" dirty="0"/>
          </a:p>
        </p:txBody>
      </p:sp>
      <p:sp>
        <p:nvSpPr>
          <p:cNvPr id="3" name="Content Placeholder 2"/>
          <p:cNvSpPr>
            <a:spLocks noGrp="1"/>
          </p:cNvSpPr>
          <p:nvPr>
            <p:ph idx="1"/>
          </p:nvPr>
        </p:nvSpPr>
        <p:spPr/>
        <p:txBody>
          <a:bodyPr/>
          <a:lstStyle/>
          <a:p>
            <a:pPr marL="0" indent="0" algn="just">
              <a:buNone/>
            </a:pPr>
            <a:r>
              <a:rPr lang="en-US" dirty="0"/>
              <a:t>In summary, MSE and RMSE are common metrics for evaluating the performance of predictive models by measuring the differences between predicted and actual values in a dataset. Lower values of MSE and RMSE indicate better model alignment with the data.</a:t>
            </a:r>
            <a:endParaRPr lang="en-US" dirty="0"/>
          </a:p>
        </p:txBody>
      </p:sp>
    </p:spTree>
    <p:extLst>
      <p:ext uri="{BB962C8B-B14F-4D97-AF65-F5344CB8AC3E}">
        <p14:creationId xmlns:p14="http://schemas.microsoft.com/office/powerpoint/2010/main" val="213437195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t>Conclusion and Future </a:t>
            </a:r>
            <a:r>
              <a:rPr lang="en-US" b="1" dirty="0" smtClean="0"/>
              <a:t>Scope</a:t>
            </a:r>
            <a:endParaRPr lang="en-US" dirty="0"/>
          </a:p>
        </p:txBody>
      </p:sp>
    </p:spTree>
    <p:extLst>
      <p:ext uri="{BB962C8B-B14F-4D97-AF65-F5344CB8AC3E}">
        <p14:creationId xmlns:p14="http://schemas.microsoft.com/office/powerpoint/2010/main" val="392515528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Summary of Research:</a:t>
            </a:r>
            <a:endParaRPr lang="en-US" dirty="0"/>
          </a:p>
        </p:txBody>
      </p:sp>
      <p:sp>
        <p:nvSpPr>
          <p:cNvPr id="3" name="Content Placeholder 2"/>
          <p:cNvSpPr>
            <a:spLocks noGrp="1"/>
          </p:cNvSpPr>
          <p:nvPr>
            <p:ph idx="1"/>
          </p:nvPr>
        </p:nvSpPr>
        <p:spPr/>
        <p:txBody>
          <a:bodyPr>
            <a:normAutofit lnSpcReduction="10000"/>
          </a:bodyPr>
          <a:lstStyle/>
          <a:p>
            <a:pPr algn="just"/>
            <a:r>
              <a:rPr lang="en-US" dirty="0"/>
              <a:t>This paper explores various methodologies for predicting stock index values and movement trends using deep learning models: ARIMA, CNN, RNN, LSTM, and PROPHET, applied to the Yahoo Finance dataset.</a:t>
            </a:r>
          </a:p>
          <a:p>
            <a:pPr algn="just"/>
            <a:r>
              <a:rPr lang="en-US" dirty="0"/>
              <a:t>Stock market prediction is a complex task, with technical analysis relying on statistical insights from market activities.</a:t>
            </a:r>
          </a:p>
          <a:p>
            <a:pPr algn="just"/>
            <a:r>
              <a:rPr lang="en-US" dirty="0"/>
              <a:t>The choice of the most suitable model among CNN, RNN, LSTM, ARIMA, and PROPHET depends on various factors, with each model having distinct advantages and drawbacks.</a:t>
            </a:r>
          </a:p>
          <a:p>
            <a:pPr algn="just"/>
            <a:r>
              <a:rPr lang="en-US" dirty="0"/>
              <a:t>LSTM stands out among deep learning models, particularly due to its unique architecture, which addresses the limitations of traditional RNNs.</a:t>
            </a:r>
          </a:p>
          <a:p>
            <a:pPr algn="just"/>
            <a:r>
              <a:rPr lang="en-US" dirty="0"/>
              <a:t>LSTMs excel in managing long-term dependencies in sequential data, overcoming the vanishing gradient problem, and effectively capturing complex temporal patterns</a:t>
            </a:r>
            <a:r>
              <a:rPr lang="en-US" dirty="0" smtClean="0"/>
              <a:t>.</a:t>
            </a:r>
            <a:endParaRPr lang="en-US" dirty="0"/>
          </a:p>
        </p:txBody>
      </p:sp>
    </p:spTree>
    <p:extLst>
      <p:ext uri="{BB962C8B-B14F-4D97-AF65-F5344CB8AC3E}">
        <p14:creationId xmlns:p14="http://schemas.microsoft.com/office/powerpoint/2010/main" val="401082050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Research Findings:</a:t>
            </a:r>
            <a:endParaRPr lang="en-US" dirty="0"/>
          </a:p>
        </p:txBody>
      </p:sp>
      <p:sp>
        <p:nvSpPr>
          <p:cNvPr id="3" name="Content Placeholder 2"/>
          <p:cNvSpPr>
            <a:spLocks noGrp="1"/>
          </p:cNvSpPr>
          <p:nvPr>
            <p:ph idx="1"/>
          </p:nvPr>
        </p:nvSpPr>
        <p:spPr/>
        <p:txBody>
          <a:bodyPr/>
          <a:lstStyle/>
          <a:p>
            <a:pPr algn="just"/>
            <a:r>
              <a:rPr lang="en-US" dirty="0"/>
              <a:t>LSTMs are effective in managing long-term dependencies and offer a potential approach for accurately capturing complex temporal patterns, making them suitable for stock price prediction.</a:t>
            </a:r>
          </a:p>
          <a:p>
            <a:pPr algn="just"/>
            <a:r>
              <a:rPr lang="en-US" dirty="0"/>
              <a:t>Deep learning models outperform their machine learning counterparts in comprehending and capturing time series data attributes.</a:t>
            </a:r>
          </a:p>
        </p:txBody>
      </p:sp>
    </p:spTree>
    <p:extLst>
      <p:ext uri="{BB962C8B-B14F-4D97-AF65-F5344CB8AC3E}">
        <p14:creationId xmlns:p14="http://schemas.microsoft.com/office/powerpoint/2010/main" val="53793363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Future Scope:</a:t>
            </a:r>
            <a:endParaRPr lang="en-US" dirty="0"/>
          </a:p>
        </p:txBody>
      </p:sp>
      <p:sp>
        <p:nvSpPr>
          <p:cNvPr id="3" name="Content Placeholder 2"/>
          <p:cNvSpPr>
            <a:spLocks noGrp="1"/>
          </p:cNvSpPr>
          <p:nvPr>
            <p:ph idx="1"/>
          </p:nvPr>
        </p:nvSpPr>
        <p:spPr/>
        <p:txBody>
          <a:bodyPr/>
          <a:lstStyle/>
          <a:p>
            <a:pPr marL="0" indent="0" algn="just">
              <a:buNone/>
            </a:pPr>
            <a:r>
              <a:rPr lang="en-US" dirty="0"/>
              <a:t>The research opens up several avenues for future exploration</a:t>
            </a:r>
            <a:r>
              <a:rPr lang="en-US" dirty="0" smtClean="0"/>
              <a:t>: </a:t>
            </a:r>
          </a:p>
          <a:p>
            <a:pPr algn="just"/>
            <a:r>
              <a:rPr lang="en-US" dirty="0" smtClean="0"/>
              <a:t>Further </a:t>
            </a:r>
            <a:r>
              <a:rPr lang="en-US" dirty="0"/>
              <a:t>fine-tuning and optimization of deep learning models to improve stock price prediction accuracy.</a:t>
            </a:r>
          </a:p>
          <a:p>
            <a:pPr algn="just"/>
            <a:r>
              <a:rPr lang="en-US" dirty="0"/>
              <a:t>Investigation into ensemble methods and hybrid models that combine the strengths of multiple predictive techniques.</a:t>
            </a:r>
          </a:p>
          <a:p>
            <a:pPr algn="just"/>
            <a:r>
              <a:rPr lang="en-US" dirty="0"/>
              <a:t>Exploration of additional data sources and features that can enhance the accuracy of stock market predictions.</a:t>
            </a:r>
          </a:p>
          <a:p>
            <a:pPr algn="just"/>
            <a:r>
              <a:rPr lang="en-US" dirty="0"/>
              <a:t>Application of deep learning models to other financial prediction tasks, such as volatility forecasting or portfolio optimization.</a:t>
            </a:r>
          </a:p>
          <a:p>
            <a:pPr algn="just"/>
            <a:r>
              <a:rPr lang="en-US" dirty="0"/>
              <a:t>Continuous monitoring of evolving deep learning techniques and their applicability to stock market prediction.</a:t>
            </a:r>
          </a:p>
          <a:p>
            <a:pPr marL="0" indent="0">
              <a:buNone/>
            </a:pPr>
            <a:endParaRPr lang="en-US" dirty="0"/>
          </a:p>
        </p:txBody>
      </p:sp>
    </p:spTree>
    <p:extLst>
      <p:ext uri="{BB962C8B-B14F-4D97-AF65-F5344CB8AC3E}">
        <p14:creationId xmlns:p14="http://schemas.microsoft.com/office/powerpoint/2010/main" val="150798204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Conclusion</a:t>
            </a:r>
            <a:endParaRPr lang="en-US" dirty="0"/>
          </a:p>
        </p:txBody>
      </p:sp>
      <p:sp>
        <p:nvSpPr>
          <p:cNvPr id="3" name="Content Placeholder 2"/>
          <p:cNvSpPr>
            <a:spLocks noGrp="1"/>
          </p:cNvSpPr>
          <p:nvPr>
            <p:ph idx="1"/>
          </p:nvPr>
        </p:nvSpPr>
        <p:spPr/>
        <p:txBody>
          <a:bodyPr/>
          <a:lstStyle/>
          <a:p>
            <a:pPr marL="0" indent="0">
              <a:buNone/>
            </a:pPr>
            <a:r>
              <a:rPr lang="en-US" dirty="0"/>
              <a:t>In conclusion, this research highlights the effectiveness of deep learning models, especially LSTM, in capturing complex temporal patterns and improving stock price prediction. The study provides a foundation for future research in the field of financial forecasting and opens up opportunities for further enhancements in predictive accuracy and model development.</a:t>
            </a:r>
            <a:endParaRPr lang="en-US" dirty="0"/>
          </a:p>
        </p:txBody>
      </p:sp>
    </p:spTree>
    <p:extLst>
      <p:ext uri="{BB962C8B-B14F-4D97-AF65-F5344CB8AC3E}">
        <p14:creationId xmlns:p14="http://schemas.microsoft.com/office/powerpoint/2010/main" val="42035457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docProps/app.xml><?xml version="1.0" encoding="utf-8"?>
<Properties xmlns="http://schemas.openxmlformats.org/officeDocument/2006/extended-properties" xmlns:vt="http://schemas.openxmlformats.org/officeDocument/2006/docPropsVTypes">
  <Template>TM03090434[[fn=Wood Type]]</Template>
  <TotalTime>5522</TotalTime>
  <Words>3491</Words>
  <Application>Microsoft Office PowerPoint</Application>
  <PresentationFormat>Widescreen</PresentationFormat>
  <Paragraphs>264</Paragraphs>
  <Slides>69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69</vt:i4>
      </vt:variant>
    </vt:vector>
  </HeadingPairs>
  <TitlesOfParts>
    <vt:vector size="74" baseType="lpstr">
      <vt:lpstr>Arial</vt:lpstr>
      <vt:lpstr>Rockwell</vt:lpstr>
      <vt:lpstr>Rockwell Condensed</vt:lpstr>
      <vt:lpstr>Wingdings</vt:lpstr>
      <vt:lpstr>Wood Type</vt:lpstr>
      <vt:lpstr>Deep Learning for Arbitrary Stock Forecasting</vt:lpstr>
      <vt:lpstr>Stock Market</vt:lpstr>
      <vt:lpstr>Stock Market</vt:lpstr>
      <vt:lpstr>Primary vs Secondary</vt:lpstr>
      <vt:lpstr>Time Series Forecasting</vt:lpstr>
      <vt:lpstr>Time Series Forecasting</vt:lpstr>
      <vt:lpstr>Linear Model</vt:lpstr>
      <vt:lpstr>Non-Linear model</vt:lpstr>
      <vt:lpstr>Tools</vt:lpstr>
      <vt:lpstr>Tools</vt:lpstr>
      <vt:lpstr>Project Planning</vt:lpstr>
      <vt:lpstr>Project planning</vt:lpstr>
      <vt:lpstr>Literature review</vt:lpstr>
      <vt:lpstr>1-Traditional Deep learning models</vt:lpstr>
      <vt:lpstr>Recurrent Neural Networks (RNNs)</vt:lpstr>
      <vt:lpstr>LSTM Architecture</vt:lpstr>
      <vt:lpstr>Bidirectional LSTM (BLSTM):</vt:lpstr>
      <vt:lpstr>Algorithm Comparisons:</vt:lpstr>
      <vt:lpstr>Summary</vt:lpstr>
      <vt:lpstr>2-Comparative Study of Deep Learning Models</vt:lpstr>
      <vt:lpstr>Overview of Financial Time Series Forecasting:</vt:lpstr>
      <vt:lpstr>Challenges with Machine Learning in Finance:</vt:lpstr>
      <vt:lpstr>Comparative Evaluation of RNN Models:</vt:lpstr>
      <vt:lpstr>summary</vt:lpstr>
      <vt:lpstr>3-Sentiment-Enhanced Models for Stock Trend Prediction</vt:lpstr>
      <vt:lpstr>Introduction of TGRU and Stock2Vec</vt:lpstr>
      <vt:lpstr>Deep Learning Model Capabilities:</vt:lpstr>
      <vt:lpstr>summary</vt:lpstr>
      <vt:lpstr>4-Deep Learning Models for Cross-Market Stock Price Prediction</vt:lpstr>
      <vt:lpstr>Model Performance</vt:lpstr>
      <vt:lpstr>Summary</vt:lpstr>
      <vt:lpstr>5-Deep Learning’s Dominance in Financial Time Series Forecasting:</vt:lpstr>
      <vt:lpstr>Hiransha et al.'s Stock Price Prediction Study</vt:lpstr>
      <vt:lpstr>Deep Learning in Stock Price Prediction:</vt:lpstr>
      <vt:lpstr>Prediction Results and Challenges:</vt:lpstr>
      <vt:lpstr>Future Directions and Enhancements:</vt:lpstr>
      <vt:lpstr>Summary</vt:lpstr>
      <vt:lpstr>Methodology</vt:lpstr>
      <vt:lpstr>1-AutoRegressive Integrated Moving Average (ARIMA)</vt:lpstr>
      <vt:lpstr>AutoRegressive Integrated Moving Average (ARIMA):</vt:lpstr>
      <vt:lpstr>ARIMA Parameters:</vt:lpstr>
      <vt:lpstr>Summary</vt:lpstr>
      <vt:lpstr> 2-Convolutional Neural Network (CNN)</vt:lpstr>
      <vt:lpstr>Convolutional Neural Network (CNN):</vt:lpstr>
      <vt:lpstr>CNN Layers:</vt:lpstr>
      <vt:lpstr>Summary</vt:lpstr>
      <vt:lpstr>3-Recurrent Neural Network (RNN)</vt:lpstr>
      <vt:lpstr>Recurrent Neural Network (RNN):</vt:lpstr>
      <vt:lpstr>RNN</vt:lpstr>
      <vt:lpstr>Summary</vt:lpstr>
      <vt:lpstr>4-PROPHET</vt:lpstr>
      <vt:lpstr>PROPHET:</vt:lpstr>
      <vt:lpstr>Prophet:</vt:lpstr>
      <vt:lpstr>summary</vt:lpstr>
      <vt:lpstr>5-Long Short-Term Memory (LSTM)</vt:lpstr>
      <vt:lpstr>Long Short-Term Memory (LSTM):</vt:lpstr>
      <vt:lpstr>Lstm:</vt:lpstr>
      <vt:lpstr>Summary</vt:lpstr>
      <vt:lpstr>Experimental Results and analysis</vt:lpstr>
      <vt:lpstr>Mean Squared Error (MSE):</vt:lpstr>
      <vt:lpstr>Results mse:</vt:lpstr>
      <vt:lpstr>Root Mean Squared Error (RMSE):</vt:lpstr>
      <vt:lpstr>Results rmse:</vt:lpstr>
      <vt:lpstr>Summary</vt:lpstr>
      <vt:lpstr>Conclusion and Future Scope</vt:lpstr>
      <vt:lpstr>Summary of Research:</vt:lpstr>
      <vt:lpstr>Research Findings:</vt:lpstr>
      <vt:lpstr>Future Scope:</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Deep Learning for Arbitrary Stock Forecasting</dc:title>
  <dc:creator>Abdul Wahid</dc:creator>
  <cp:lastModifiedBy>Abdul Wahid</cp:lastModifiedBy>
  <cp:revision>23</cp:revision>
  <dcterms:created xsi:type="dcterms:W3CDTF">2023-09-09T15:16:23Z</dcterms:created>
  <dcterms:modified xsi:type="dcterms:W3CDTF">2023-09-13T11:18:41Z</dcterms:modified>
</cp:coreProperties>
</file>